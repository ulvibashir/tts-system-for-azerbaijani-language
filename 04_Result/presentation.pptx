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2" r:id="rId17"/>
    <p:sldId id="271" r:id="rId18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459"/>
    <p:restoredTop sz="94610"/>
  </p:normalViewPr>
  <p:slideViewPr>
    <p:cSldViewPr snapToGrid="0" snapToObjects="1">
      <p:cViewPr varScale="1">
        <p:scale>
          <a:sx n="126" d="100"/>
          <a:sy n="126" d="100"/>
        </p:scale>
        <p:origin x="224" y="4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941228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9.jpg"/><Relationship Id="rId4" Type="http://schemas.openxmlformats.org/officeDocument/2006/relationships/image" Target="../media/image8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sv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3" name="Shape 1"/>
          <p:cNvSpPr/>
          <p:nvPr/>
        </p:nvSpPr>
        <p:spPr>
          <a:xfrm>
            <a:off x="0" y="10160"/>
            <a:ext cx="18288000" cy="1028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pic>
        <p:nvPicPr>
          <p:cNvPr id="4" name="Image 0" descr="gen-dedup-b87ccc4a12b2347949c935bb707b9daf.png"/>
          <p:cNvPicPr>
            <a:picLocks noChangeAspect="1"/>
          </p:cNvPicPr>
          <p:nvPr/>
        </p:nvPicPr>
        <p:blipFill>
          <a:blip r:embed="rId3"/>
          <a:srcRect l="-2" r="-2"/>
          <a:stretch/>
        </p:blipFill>
        <p:spPr>
          <a:xfrm>
            <a:off x="0" y="0"/>
            <a:ext cx="7239305" cy="10287000"/>
          </a:xfrm>
          <a:prstGeom prst="rect">
            <a:avLst/>
          </a:prstGeom>
        </p:spPr>
      </p:pic>
      <p:pic>
        <p:nvPicPr>
          <p:cNvPr id="5" name="Image 1" descr="gen-dedup-29c2778d980487fba9cd4d85b14b4ac1.png"/>
          <p:cNvPicPr>
            <a:picLocks noChangeAspect="1"/>
          </p:cNvPicPr>
          <p:nvPr/>
        </p:nvPicPr>
        <p:blipFill>
          <a:blip r:embed="rId4"/>
          <a:srcRect l="-400" r="-400"/>
          <a:stretch/>
        </p:blipFill>
        <p:spPr>
          <a:xfrm>
            <a:off x="7239305" y="0"/>
            <a:ext cx="38405" cy="1028700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7810805" y="7239305"/>
            <a:ext cx="9753905" cy="228600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lstStyle/>
          <a:p>
            <a:endParaRPr lang="en-AZ"/>
          </a:p>
        </p:txBody>
      </p:sp>
      <p:sp>
        <p:nvSpPr>
          <p:cNvPr id="7" name="Shape 3"/>
          <p:cNvSpPr/>
          <p:nvPr/>
        </p:nvSpPr>
        <p:spPr>
          <a:xfrm>
            <a:off x="7810805" y="7239305"/>
            <a:ext cx="38405" cy="2286000"/>
          </a:xfrm>
          <a:prstGeom prst="rect">
            <a:avLst/>
          </a:prstGeom>
          <a:solidFill>
            <a:srgbClr val="1F5AA6"/>
          </a:solidFill>
          <a:ln w="12700">
            <a:solidFill>
              <a:srgbClr val="1F5AA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pic>
        <p:nvPicPr>
          <p:cNvPr id="8" name="Image 2" descr="gen-dedup-e6aedc7a4ad8b3afa1c52e6fd432fe75.png"/>
          <p:cNvPicPr>
            <a:picLocks noChangeAspect="1"/>
          </p:cNvPicPr>
          <p:nvPr/>
        </p:nvPicPr>
        <p:blipFill>
          <a:blip r:embed="rId5"/>
          <a:srcRect l="-11" r="-11"/>
          <a:stretch/>
        </p:blipFill>
        <p:spPr>
          <a:xfrm>
            <a:off x="761695" y="7810805"/>
            <a:ext cx="5715000" cy="1333195"/>
          </a:xfrm>
          <a:prstGeom prst="rect">
            <a:avLst/>
          </a:prstGeom>
        </p:spPr>
      </p:pic>
      <p:pic>
        <p:nvPicPr>
          <p:cNvPr id="9" name="Image 3" descr="gen-dedup-1a162a019b97a971bd9279dce9eaa9f3.png"/>
          <p:cNvPicPr>
            <a:picLocks noChangeAspect="1"/>
          </p:cNvPicPr>
          <p:nvPr/>
        </p:nvPicPr>
        <p:blipFill>
          <a:blip r:embed="rId6"/>
          <a:srcRect l="-80" r="-80"/>
          <a:stretch/>
        </p:blipFill>
        <p:spPr>
          <a:xfrm>
            <a:off x="7810805" y="6286500"/>
            <a:ext cx="1143000" cy="47549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761695" y="1143000"/>
            <a:ext cx="590611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225" dirty="0">
                <a:solidFill>
                  <a:srgbClr val="C9A2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AZERBAIJAN STATE UNIVERSITY OF ECONOMICS</a:t>
            </a:r>
            <a:endParaRPr lang="en-US" sz="1300" dirty="0"/>
          </a:p>
        </p:txBody>
      </p:sp>
      <p:sp>
        <p:nvSpPr>
          <p:cNvPr id="11" name="Text 5"/>
          <p:cNvSpPr txBox="1"/>
          <p:nvPr/>
        </p:nvSpPr>
        <p:spPr>
          <a:xfrm>
            <a:off x="761695" y="1419149"/>
            <a:ext cx="5906110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150" dirty="0">
                <a:solidFill>
                  <a:srgbClr val="9FB4D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UNEC BUSINESS SCHOOL · MBA · ARTIFICIAL INTELLIGENCE</a:t>
            </a:r>
            <a:endParaRPr lang="en-US" sz="1200" dirty="0"/>
          </a:p>
        </p:txBody>
      </p:sp>
      <p:sp>
        <p:nvSpPr>
          <p:cNvPr id="12" name="Text 6"/>
          <p:cNvSpPr txBox="1"/>
          <p:nvPr/>
        </p:nvSpPr>
        <p:spPr>
          <a:xfrm>
            <a:off x="761695" y="2190902"/>
            <a:ext cx="5906110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00" i="1" dirty="0">
                <a:solidFill>
                  <a:srgbClr val="9FB4D1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Master's Thesis — Defense Presentation</a:t>
            </a:r>
            <a:endParaRPr lang="en-US" sz="1600" dirty="0"/>
          </a:p>
        </p:txBody>
      </p:sp>
      <p:sp>
        <p:nvSpPr>
          <p:cNvPr id="13" name="Text 7"/>
          <p:cNvSpPr txBox="1"/>
          <p:nvPr/>
        </p:nvSpPr>
        <p:spPr>
          <a:xfrm>
            <a:off x="761695" y="2857500"/>
            <a:ext cx="2638958" cy="333756"/>
          </a:xfrm>
          <a:prstGeom prst="rect">
            <a:avLst/>
          </a:prstGeom>
          <a:solidFill>
            <a:srgbClr val="C9A227">
              <a:alpha val="18000"/>
            </a:srgbClr>
          </a:solidFill>
          <a:ln w="12700">
            <a:solidFill>
              <a:srgbClr val="C9A227"/>
            </a:solidFill>
          </a:ln>
        </p:spPr>
        <p:txBody>
          <a:bodyPr wrap="none" lIns="152400" tIns="76200" rIns="152400" bIns="76200" rtlCol="0" anchor="ctr"/>
          <a:lstStyle/>
          <a:p>
            <a:pPr marL="0" indent="0" algn="l">
              <a:buNone/>
            </a:pPr>
            <a:r>
              <a:rPr lang="en-US" sz="1000" b="1" kern="0" spc="150" dirty="0">
                <a:solidFill>
                  <a:srgbClr val="C9A2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SPEECH TECHNOLOGY · NLP</a:t>
            </a:r>
            <a:endParaRPr lang="en-US" sz="1000" dirty="0"/>
          </a:p>
        </p:txBody>
      </p:sp>
      <p:sp>
        <p:nvSpPr>
          <p:cNvPr id="14" name="Text 8"/>
          <p:cNvSpPr txBox="1"/>
          <p:nvPr/>
        </p:nvSpPr>
        <p:spPr>
          <a:xfrm>
            <a:off x="7810805" y="2190902"/>
            <a:ext cx="971550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1F5A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THESIS TOPIC</a:t>
            </a:r>
            <a:endParaRPr lang="en-US" sz="1300" dirty="0"/>
          </a:p>
        </p:txBody>
      </p:sp>
      <p:sp>
        <p:nvSpPr>
          <p:cNvPr id="15" name="Text 9"/>
          <p:cNvSpPr txBox="1"/>
          <p:nvPr/>
        </p:nvSpPr>
        <p:spPr>
          <a:xfrm>
            <a:off x="7810805" y="2667305"/>
            <a:ext cx="9715500" cy="2638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kern="0" spc="-75" dirty="0">
                <a:solidFill>
                  <a:srgbClr val="0B2A4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Design and Development of a Rule-Based Text-to-Speech System for the Azerbaijani Language</a:t>
            </a:r>
            <a:endParaRPr lang="en-US" sz="4800" dirty="0"/>
          </a:p>
        </p:txBody>
      </p:sp>
      <p:sp>
        <p:nvSpPr>
          <p:cNvPr id="16" name="Text 10"/>
          <p:cNvSpPr txBox="1"/>
          <p:nvPr/>
        </p:nvSpPr>
        <p:spPr>
          <a:xfrm>
            <a:off x="7810805" y="6572707"/>
            <a:ext cx="9715500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i="1" dirty="0">
                <a:solidFill>
                  <a:srgbClr val="2B3A4D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A modular, open, documented pipeline for a low-resource Azerbaijani language — without training data.</a:t>
            </a:r>
            <a:endParaRPr lang="en-US" sz="1800" dirty="0"/>
          </a:p>
        </p:txBody>
      </p:sp>
      <p:sp>
        <p:nvSpPr>
          <p:cNvPr id="17" name="Text 11"/>
          <p:cNvSpPr txBox="1"/>
          <p:nvPr/>
        </p:nvSpPr>
        <p:spPr>
          <a:xfrm>
            <a:off x="8153705" y="7487107"/>
            <a:ext cx="4572000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150" dirty="0">
                <a:solidFill>
                  <a:srgbClr val="6A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CANDIDATE</a:t>
            </a:r>
            <a:endParaRPr lang="en-US" sz="1000" dirty="0"/>
          </a:p>
        </p:txBody>
      </p:sp>
      <p:sp>
        <p:nvSpPr>
          <p:cNvPr id="18" name="Text 12"/>
          <p:cNvSpPr txBox="1"/>
          <p:nvPr/>
        </p:nvSpPr>
        <p:spPr>
          <a:xfrm>
            <a:off x="8153705" y="7705649"/>
            <a:ext cx="4572000" cy="419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B2A4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Bashirov Ulvi Samir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8153705" y="8162849"/>
            <a:ext cx="4572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2B3A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E27‑24 · Code 060409 · MBA</a:t>
            </a:r>
            <a:endParaRPr lang="en-US" sz="1300" dirty="0"/>
          </a:p>
        </p:txBody>
      </p:sp>
      <p:sp>
        <p:nvSpPr>
          <p:cNvPr id="20" name="Text 14"/>
          <p:cNvSpPr txBox="1"/>
          <p:nvPr/>
        </p:nvSpPr>
        <p:spPr>
          <a:xfrm>
            <a:off x="13144500" y="7487107"/>
            <a:ext cx="4000500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150" dirty="0">
                <a:solidFill>
                  <a:srgbClr val="6A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SCIENTIFIC SUPERVISOR</a:t>
            </a:r>
            <a:endParaRPr lang="en-US" sz="1000" dirty="0"/>
          </a:p>
        </p:txBody>
      </p:sp>
      <p:sp>
        <p:nvSpPr>
          <p:cNvPr id="21" name="Text 15"/>
          <p:cNvSpPr txBox="1"/>
          <p:nvPr/>
        </p:nvSpPr>
        <p:spPr>
          <a:xfrm>
            <a:off x="13144500" y="7705649"/>
            <a:ext cx="4000500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B2A4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Pashayeva Khanim Jamal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13144500" y="8143646"/>
            <a:ext cx="4000500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150" dirty="0">
                <a:solidFill>
                  <a:srgbClr val="6A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PROGRAM SUPERVISOR</a:t>
            </a:r>
            <a:endParaRPr lang="en-US" sz="1000" dirty="0"/>
          </a:p>
        </p:txBody>
      </p:sp>
      <p:sp>
        <p:nvSpPr>
          <p:cNvPr id="23" name="Text 17"/>
          <p:cNvSpPr txBox="1"/>
          <p:nvPr/>
        </p:nvSpPr>
        <p:spPr>
          <a:xfrm>
            <a:off x="13144500" y="8343900"/>
            <a:ext cx="4000500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B2A4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PhD. Gazanfarli Mirvari Khagani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7810805" y="9715500"/>
            <a:ext cx="9715500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25" dirty="0">
                <a:solidFill>
                  <a:srgbClr val="6A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BAKU ·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4" name="Shape 2"/>
          <p:cNvSpPr/>
          <p:nvPr/>
        </p:nvSpPr>
        <p:spPr>
          <a:xfrm>
            <a:off x="1143000" y="4095598"/>
            <a:ext cx="5143500" cy="2704795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lstStyle/>
          <a:p>
            <a:endParaRPr lang="en-AZ"/>
          </a:p>
        </p:txBody>
      </p:sp>
      <p:sp>
        <p:nvSpPr>
          <p:cNvPr id="5" name="Shape 3"/>
          <p:cNvSpPr/>
          <p:nvPr/>
        </p:nvSpPr>
        <p:spPr>
          <a:xfrm>
            <a:off x="1143000" y="4095598"/>
            <a:ext cx="5143500" cy="38405"/>
          </a:xfrm>
          <a:prstGeom prst="rect">
            <a:avLst/>
          </a:prstGeom>
          <a:solidFill>
            <a:srgbClr val="0B2A4A"/>
          </a:solidFill>
          <a:ln w="12700">
            <a:solidFill>
              <a:srgbClr val="0B2A4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6" name="Shape 4"/>
          <p:cNvSpPr/>
          <p:nvPr/>
        </p:nvSpPr>
        <p:spPr>
          <a:xfrm>
            <a:off x="6572707" y="4095598"/>
            <a:ext cx="5143500" cy="2704795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lstStyle/>
          <a:p>
            <a:endParaRPr lang="en-AZ"/>
          </a:p>
        </p:txBody>
      </p:sp>
      <p:sp>
        <p:nvSpPr>
          <p:cNvPr id="7" name="Shape 5"/>
          <p:cNvSpPr/>
          <p:nvPr/>
        </p:nvSpPr>
        <p:spPr>
          <a:xfrm>
            <a:off x="6572707" y="4095598"/>
            <a:ext cx="5143500" cy="38405"/>
          </a:xfrm>
          <a:prstGeom prst="rect">
            <a:avLst/>
          </a:prstGeom>
          <a:solidFill>
            <a:srgbClr val="1F5AA6"/>
          </a:solidFill>
          <a:ln w="12700">
            <a:solidFill>
              <a:srgbClr val="1F5AA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8" name="Shape 6"/>
          <p:cNvSpPr/>
          <p:nvPr/>
        </p:nvSpPr>
        <p:spPr>
          <a:xfrm>
            <a:off x="12001500" y="4095598"/>
            <a:ext cx="5143500" cy="2704795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lstStyle/>
          <a:p>
            <a:endParaRPr lang="en-AZ"/>
          </a:p>
        </p:txBody>
      </p:sp>
      <p:sp>
        <p:nvSpPr>
          <p:cNvPr id="9" name="Shape 7"/>
          <p:cNvSpPr/>
          <p:nvPr/>
        </p:nvSpPr>
        <p:spPr>
          <a:xfrm>
            <a:off x="12001500" y="4095598"/>
            <a:ext cx="5143500" cy="38405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10" name="Shape 8"/>
          <p:cNvSpPr/>
          <p:nvPr/>
        </p:nvSpPr>
        <p:spPr>
          <a:xfrm>
            <a:off x="1143000" y="7239305"/>
            <a:ext cx="16002000" cy="1904695"/>
          </a:xfrm>
          <a:prstGeom prst="rect">
            <a:avLst/>
          </a:prstGeom>
          <a:solidFill>
            <a:srgbClr val="0B2A4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pic>
        <p:nvPicPr>
          <p:cNvPr id="11" name="Image 0" descr="gen-dedup-cfc304a6ff6b7471c886aeceb308770f.png"/>
          <p:cNvPicPr>
            <a:picLocks noChangeAspect="1"/>
          </p:cNvPicPr>
          <p:nvPr/>
        </p:nvPicPr>
        <p:blipFill>
          <a:blip r:embed="rId3"/>
          <a:srcRect t="-420" b="-420"/>
          <a:stretch/>
        </p:blipFill>
        <p:spPr>
          <a:xfrm>
            <a:off x="1143000" y="761695"/>
            <a:ext cx="761695" cy="38405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1143000" y="952805"/>
            <a:ext cx="571500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1F5A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INTRODUCTION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1143000" y="1429207"/>
            <a:ext cx="14287500" cy="685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100" b="1" kern="0" spc="-75" dirty="0">
                <a:solidFill>
                  <a:srgbClr val="0B2A4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Relevance of the topic</a:t>
            </a:r>
            <a:endParaRPr lang="en-US" sz="5100" dirty="0"/>
          </a:p>
        </p:txBody>
      </p:sp>
      <p:sp>
        <p:nvSpPr>
          <p:cNvPr id="14" name="Text 11"/>
          <p:cNvSpPr txBox="1"/>
          <p:nvPr/>
        </p:nvSpPr>
        <p:spPr>
          <a:xfrm>
            <a:off x="1143000" y="2476195"/>
            <a:ext cx="14973300" cy="381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100" i="1" dirty="0">
                <a:solidFill>
                  <a:srgbClr val="2B3A4D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With more than 35 million speakers, Azerbaijani remains a low-resource language for speech technology.</a:t>
            </a:r>
            <a:endParaRPr lang="en-US" sz="2100" dirty="0"/>
          </a:p>
        </p:txBody>
      </p:sp>
      <p:sp>
        <p:nvSpPr>
          <p:cNvPr id="15" name="Text 12"/>
          <p:cNvSpPr txBox="1"/>
          <p:nvPr/>
        </p:nvSpPr>
        <p:spPr>
          <a:xfrm>
            <a:off x="16573500" y="9715500"/>
            <a:ext cx="762610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000" kern="0" spc="150" dirty="0">
                <a:solidFill>
                  <a:srgbClr val="6A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/ 16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1524305" y="4381805"/>
            <a:ext cx="4572000" cy="914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0B2A4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35M+</a:t>
            </a:r>
            <a:endParaRPr lang="en-US" sz="7200" dirty="0"/>
          </a:p>
        </p:txBody>
      </p:sp>
      <p:sp>
        <p:nvSpPr>
          <p:cNvPr id="17" name="Text 14"/>
          <p:cNvSpPr txBox="1"/>
          <p:nvPr/>
        </p:nvSpPr>
        <p:spPr>
          <a:xfrm>
            <a:off x="1524305" y="5429707"/>
            <a:ext cx="4572000" cy="2953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2B3A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native speakers worldwide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1524305" y="5799125"/>
            <a:ext cx="457200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6A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Azerbaijan, Iran, Turkey, Russia, Georgia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6953098" y="4381805"/>
            <a:ext cx="4572000" cy="914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1F5AA6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~0</a:t>
            </a:r>
            <a:endParaRPr lang="en-US" sz="7200" dirty="0"/>
          </a:p>
        </p:txBody>
      </p:sp>
      <p:sp>
        <p:nvSpPr>
          <p:cNvPr id="20" name="Text 17"/>
          <p:cNvSpPr txBox="1"/>
          <p:nvPr/>
        </p:nvSpPr>
        <p:spPr>
          <a:xfrm>
            <a:off x="6953098" y="5429707"/>
            <a:ext cx="5143500" cy="2953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2B3A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open, documented Azerbaijani TTS systems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6953098" y="5799125"/>
            <a:ext cx="4572000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6A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Existing solutions are proprietary or buried in multilingual models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12382805" y="4381805"/>
            <a:ext cx="4572000" cy="914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A8841C"/>
                </a:solidFill>
                <a:latin typeface="var(--serif)" pitchFamily="34" charset="0"/>
                <a:ea typeface="var(--serif)" pitchFamily="34" charset="-122"/>
                <a:cs typeface="var(--serif)" pitchFamily="34" charset="-120"/>
              </a:rPr>
              <a:t>5–20</a:t>
            </a:r>
            <a:r>
              <a:rPr lang="en-US" sz="3100" b="1" dirty="0">
                <a:solidFill>
                  <a:srgbClr val="6A7686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 hrs</a:t>
            </a:r>
            <a:endParaRPr lang="en-US" sz="7200" dirty="0"/>
          </a:p>
        </p:txBody>
      </p:sp>
      <p:sp>
        <p:nvSpPr>
          <p:cNvPr id="23" name="Text 20"/>
          <p:cNvSpPr txBox="1"/>
          <p:nvPr/>
        </p:nvSpPr>
        <p:spPr>
          <a:xfrm>
            <a:off x="12382805" y="5429707"/>
            <a:ext cx="4766767" cy="2953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2B3A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 speech data required by neural TTS</a:t>
            </a:r>
            <a:endParaRPr lang="en-US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12382805" y="5799125"/>
            <a:ext cx="457200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6A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such open corpus exists for Azerbaijani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1524305" y="7524598"/>
            <a:ext cx="2857500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25" dirty="0">
                <a:solidFill>
                  <a:srgbClr val="C9A2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IT MATTERS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1524305" y="7905902"/>
            <a:ext cx="15240305" cy="857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FFFFFF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Accessibility for visually-impaired users, e-government (ASAN services), in-car navigation, language-learning platforms and literacy tools all depend on a quality Azerbaijani TTS engine.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4" name="Shape 2"/>
          <p:cNvSpPr/>
          <p:nvPr/>
        </p:nvSpPr>
        <p:spPr>
          <a:xfrm>
            <a:off x="1143000" y="6001207"/>
            <a:ext cx="3810305" cy="3619195"/>
          </a:xfrm>
          <a:prstGeom prst="rect">
            <a:avLst/>
          </a:prstGeom>
          <a:solidFill>
            <a:srgbClr val="F4F6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5" name="Shape 3"/>
          <p:cNvSpPr/>
          <p:nvPr/>
        </p:nvSpPr>
        <p:spPr>
          <a:xfrm>
            <a:off x="5143500" y="6001207"/>
            <a:ext cx="3810305" cy="3619195"/>
          </a:xfrm>
          <a:prstGeom prst="rect">
            <a:avLst/>
          </a:prstGeom>
          <a:solidFill>
            <a:srgbClr val="F4F6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6" name="Shape 4"/>
          <p:cNvSpPr/>
          <p:nvPr/>
        </p:nvSpPr>
        <p:spPr>
          <a:xfrm>
            <a:off x="9144000" y="6001207"/>
            <a:ext cx="3810305" cy="3619195"/>
          </a:xfrm>
          <a:prstGeom prst="rect">
            <a:avLst/>
          </a:prstGeom>
          <a:solidFill>
            <a:srgbClr val="F4F6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7" name="Shape 5"/>
          <p:cNvSpPr/>
          <p:nvPr/>
        </p:nvSpPr>
        <p:spPr>
          <a:xfrm>
            <a:off x="13144500" y="6001207"/>
            <a:ext cx="4000500" cy="3619195"/>
          </a:xfrm>
          <a:prstGeom prst="rect">
            <a:avLst/>
          </a:prstGeom>
          <a:solidFill>
            <a:srgbClr val="0B2A4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pic>
        <p:nvPicPr>
          <p:cNvPr id="8" name="Image 0" descr="gen-dedup-cfc304a6ff6b7471c886aeceb308770f.png"/>
          <p:cNvPicPr>
            <a:picLocks noChangeAspect="1"/>
          </p:cNvPicPr>
          <p:nvPr/>
        </p:nvPicPr>
        <p:blipFill>
          <a:blip r:embed="rId3"/>
          <a:srcRect t="-420" b="-420"/>
          <a:stretch/>
        </p:blipFill>
        <p:spPr>
          <a:xfrm>
            <a:off x="1143000" y="761695"/>
            <a:ext cx="761695" cy="38405"/>
          </a:xfrm>
          <a:prstGeom prst="rect">
            <a:avLst/>
          </a:prstGeom>
        </p:spPr>
      </p:pic>
      <p:pic>
        <p:nvPicPr>
          <p:cNvPr id="9" name="Image 1" descr="gen-dedup-35d54ae2d884268cadb3ceb70fe6837b.png"/>
          <p:cNvPicPr>
            <a:picLocks noChangeAspect="1"/>
          </p:cNvPicPr>
          <p:nvPr/>
        </p:nvPicPr>
        <p:blipFill>
          <a:blip r:embed="rId4"/>
          <a:srcRect t="-2072" b="-2072"/>
          <a:stretch/>
        </p:blipFill>
        <p:spPr>
          <a:xfrm>
            <a:off x="6286500" y="2667305"/>
            <a:ext cx="9144" cy="1904695"/>
          </a:xfrm>
          <a:prstGeom prst="rect">
            <a:avLst/>
          </a:prstGeom>
        </p:spPr>
      </p:pic>
      <p:pic>
        <p:nvPicPr>
          <p:cNvPr id="10" name="Image 2" descr="gen-dedup-455b04551d30699a0513a54007708f92.png"/>
          <p:cNvPicPr>
            <a:picLocks noChangeAspect="1"/>
          </p:cNvPicPr>
          <p:nvPr/>
        </p:nvPicPr>
        <p:blipFill>
          <a:blip r:embed="rId5"/>
          <a:srcRect t="-400" b="-400"/>
          <a:stretch/>
        </p:blipFill>
        <p:spPr>
          <a:xfrm>
            <a:off x="1143000" y="5048402"/>
            <a:ext cx="16002000" cy="19202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143000" y="952805"/>
            <a:ext cx="571500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1F5A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INTRODUCTION</a:t>
            </a:r>
            <a:endParaRPr lang="en-US" sz="1300" dirty="0"/>
          </a:p>
        </p:txBody>
      </p:sp>
      <p:sp>
        <p:nvSpPr>
          <p:cNvPr id="12" name="Text 7"/>
          <p:cNvSpPr txBox="1"/>
          <p:nvPr/>
        </p:nvSpPr>
        <p:spPr>
          <a:xfrm>
            <a:off x="1143000" y="1429207"/>
            <a:ext cx="14287500" cy="685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100" b="1" kern="0" spc="-75" dirty="0">
                <a:solidFill>
                  <a:srgbClr val="0B2A4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Problem statement</a:t>
            </a:r>
            <a:endParaRPr lang="en-US" sz="5100" dirty="0"/>
          </a:p>
        </p:txBody>
      </p:sp>
      <p:sp>
        <p:nvSpPr>
          <p:cNvPr id="13" name="Text 8"/>
          <p:cNvSpPr txBox="1"/>
          <p:nvPr/>
        </p:nvSpPr>
        <p:spPr>
          <a:xfrm>
            <a:off x="16573500" y="9715500"/>
            <a:ext cx="762610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000" kern="0" spc="150" dirty="0">
                <a:solidFill>
                  <a:srgbClr val="6A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/ 16</a:t>
            </a:r>
            <a:endParaRPr lang="en-US" sz="1000" dirty="0"/>
          </a:p>
        </p:txBody>
      </p:sp>
      <p:sp>
        <p:nvSpPr>
          <p:cNvPr id="14" name="Text 9"/>
          <p:cNvSpPr txBox="1"/>
          <p:nvPr/>
        </p:nvSpPr>
        <p:spPr>
          <a:xfrm>
            <a:off x="1143000" y="2667305"/>
            <a:ext cx="4953305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25" dirty="0">
                <a:solidFill>
                  <a:srgbClr val="1F5A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RESEARCH OBJECT</a:t>
            </a:r>
            <a:endParaRPr lang="en-US" sz="1000" dirty="0"/>
          </a:p>
        </p:txBody>
      </p:sp>
      <p:sp>
        <p:nvSpPr>
          <p:cNvPr id="15" name="Text 10"/>
          <p:cNvSpPr txBox="1"/>
          <p:nvPr/>
        </p:nvSpPr>
        <p:spPr>
          <a:xfrm>
            <a:off x="1143000" y="2962656"/>
            <a:ext cx="4953305" cy="7434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B2A4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The process of automatic text-to-speech conversion in Azerbaijani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6667805" y="2667305"/>
            <a:ext cx="10478110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25" dirty="0">
                <a:solidFill>
                  <a:srgbClr val="1F5A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RESEARCH SUBJECT</a:t>
            </a:r>
            <a:endParaRPr lang="en-US" sz="1000" dirty="0"/>
          </a:p>
        </p:txBody>
      </p:sp>
      <p:sp>
        <p:nvSpPr>
          <p:cNvPr id="17" name="Text 12"/>
          <p:cNvSpPr txBox="1"/>
          <p:nvPr/>
        </p:nvSpPr>
        <p:spPr>
          <a:xfrm>
            <a:off x="6667805" y="2962656"/>
            <a:ext cx="10478110" cy="7434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B2A4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Formalization of phonological, morphological and prosodic rules as a computational model</a:t>
            </a:r>
            <a:endParaRPr lang="en-US" sz="2200" dirty="0"/>
          </a:p>
        </p:txBody>
      </p:sp>
      <p:sp>
        <p:nvSpPr>
          <p:cNvPr id="18" name="Text 13"/>
          <p:cNvSpPr txBox="1"/>
          <p:nvPr/>
        </p:nvSpPr>
        <p:spPr>
          <a:xfrm>
            <a:off x="1143000" y="5429707"/>
            <a:ext cx="16002000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25" dirty="0">
                <a:solidFill>
                  <a:srgbClr val="6A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LIMITATIONS OF EXISTING SOLUTIONS</a:t>
            </a:r>
            <a:endParaRPr lang="en-US" sz="1000" dirty="0"/>
          </a:p>
        </p:txBody>
      </p:sp>
      <p:sp>
        <p:nvSpPr>
          <p:cNvPr id="19" name="Text 14"/>
          <p:cNvSpPr txBox="1"/>
          <p:nvPr/>
        </p:nvSpPr>
        <p:spPr>
          <a:xfrm>
            <a:off x="1429207" y="6286500"/>
            <a:ext cx="3238805" cy="6099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0B2A4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01</a:t>
            </a:r>
            <a:endParaRPr lang="en-US" sz="4800" dirty="0"/>
          </a:p>
        </p:txBody>
      </p:sp>
      <p:sp>
        <p:nvSpPr>
          <p:cNvPr id="20" name="Text 15"/>
          <p:cNvSpPr txBox="1"/>
          <p:nvPr/>
        </p:nvSpPr>
        <p:spPr>
          <a:xfrm>
            <a:off x="1429207" y="7067398"/>
            <a:ext cx="3238805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B2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Closed source</a:t>
            </a:r>
            <a:endParaRPr lang="en-US" sz="1600" dirty="0"/>
          </a:p>
        </p:txBody>
      </p:sp>
      <p:sp>
        <p:nvSpPr>
          <p:cNvPr id="21" name="Text 16"/>
          <p:cNvSpPr txBox="1"/>
          <p:nvPr/>
        </p:nvSpPr>
        <p:spPr>
          <a:xfrm>
            <a:off x="1429207" y="7410298"/>
            <a:ext cx="3238805" cy="7525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2B3A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Commercial solutions (Rustamov et al.) are undocumented and inaccessible for academic research.</a:t>
            </a:r>
            <a:endParaRPr lang="en-US" sz="1300" dirty="0"/>
          </a:p>
        </p:txBody>
      </p:sp>
      <p:sp>
        <p:nvSpPr>
          <p:cNvPr id="22" name="Text 17"/>
          <p:cNvSpPr txBox="1"/>
          <p:nvPr/>
        </p:nvSpPr>
        <p:spPr>
          <a:xfrm>
            <a:off x="5429707" y="6286500"/>
            <a:ext cx="3238805" cy="6099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0B2A4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02</a:t>
            </a:r>
            <a:endParaRPr lang="en-US" sz="4800" dirty="0"/>
          </a:p>
        </p:txBody>
      </p:sp>
      <p:sp>
        <p:nvSpPr>
          <p:cNvPr id="23" name="Text 18"/>
          <p:cNvSpPr txBox="1"/>
          <p:nvPr/>
        </p:nvSpPr>
        <p:spPr>
          <a:xfrm>
            <a:off x="5429707" y="7067398"/>
            <a:ext cx="3622853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B2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Multilingual model weakness</a:t>
            </a:r>
            <a:endParaRPr lang="en-US" sz="1600" dirty="0"/>
          </a:p>
        </p:txBody>
      </p:sp>
      <p:sp>
        <p:nvSpPr>
          <p:cNvPr id="24" name="Text 19"/>
          <p:cNvSpPr txBox="1"/>
          <p:nvPr/>
        </p:nvSpPr>
        <p:spPr>
          <a:xfrm>
            <a:off x="5429707" y="7410298"/>
            <a:ext cx="3238805" cy="7525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2B3A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Multilingual models (IS2AI) fail to accurately capture Azerbaijani vowel harmony.</a:t>
            </a:r>
            <a:endParaRPr lang="en-US" sz="1300" dirty="0"/>
          </a:p>
        </p:txBody>
      </p:sp>
      <p:sp>
        <p:nvSpPr>
          <p:cNvPr id="25" name="Text 20"/>
          <p:cNvSpPr txBox="1"/>
          <p:nvPr/>
        </p:nvSpPr>
        <p:spPr>
          <a:xfrm>
            <a:off x="9430207" y="6286500"/>
            <a:ext cx="3238805" cy="6099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0B2A4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03</a:t>
            </a:r>
            <a:endParaRPr lang="en-US" sz="4800" dirty="0"/>
          </a:p>
        </p:txBody>
      </p:sp>
      <p:sp>
        <p:nvSpPr>
          <p:cNvPr id="26" name="Text 21"/>
          <p:cNvSpPr txBox="1"/>
          <p:nvPr/>
        </p:nvSpPr>
        <p:spPr>
          <a:xfrm>
            <a:off x="9430207" y="7067398"/>
            <a:ext cx="3238805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B2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open corpus</a:t>
            </a:r>
            <a:endParaRPr lang="en-US" sz="1600" dirty="0"/>
          </a:p>
        </p:txBody>
      </p:sp>
      <p:sp>
        <p:nvSpPr>
          <p:cNvPr id="27" name="Text 22"/>
          <p:cNvSpPr txBox="1"/>
          <p:nvPr/>
        </p:nvSpPr>
        <p:spPr>
          <a:xfrm>
            <a:off x="9430207" y="7410298"/>
            <a:ext cx="3238805" cy="7525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2B3A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5–20 hours of speech needed for neural approaches is not openly available for Azerbaijani.</a:t>
            </a:r>
            <a:endParaRPr lang="en-US" sz="1300" dirty="0"/>
          </a:p>
        </p:txBody>
      </p:sp>
      <p:sp>
        <p:nvSpPr>
          <p:cNvPr id="28" name="Text 23"/>
          <p:cNvSpPr txBox="1"/>
          <p:nvPr/>
        </p:nvSpPr>
        <p:spPr>
          <a:xfrm>
            <a:off x="13430707" y="6286500"/>
            <a:ext cx="3429000" cy="6099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C9A227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04</a:t>
            </a:r>
            <a:endParaRPr lang="en-US" sz="4800" dirty="0"/>
          </a:p>
        </p:txBody>
      </p:sp>
      <p:sp>
        <p:nvSpPr>
          <p:cNvPr id="29" name="Text 24"/>
          <p:cNvSpPr txBox="1"/>
          <p:nvPr/>
        </p:nvSpPr>
        <p:spPr>
          <a:xfrm>
            <a:off x="13430707" y="7067398"/>
            <a:ext cx="3882542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documented linguistic base</a:t>
            </a:r>
            <a:endParaRPr lang="en-US" sz="1600" dirty="0"/>
          </a:p>
        </p:txBody>
      </p:sp>
      <p:sp>
        <p:nvSpPr>
          <p:cNvPr id="30" name="Text 25"/>
          <p:cNvSpPr txBox="1"/>
          <p:nvPr/>
        </p:nvSpPr>
        <p:spPr>
          <a:xfrm>
            <a:off x="13430707" y="7410298"/>
            <a:ext cx="3429000" cy="7525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C7D3E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existing system publishes a computational formalisation of Azerbaijani phonology.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3" name="Shape 1"/>
          <p:cNvSpPr/>
          <p:nvPr/>
        </p:nvSpPr>
        <p:spPr>
          <a:xfrm>
            <a:off x="0" y="408737"/>
            <a:ext cx="18288000" cy="1028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4" name="Shape 2"/>
          <p:cNvSpPr/>
          <p:nvPr/>
        </p:nvSpPr>
        <p:spPr>
          <a:xfrm>
            <a:off x="1143000" y="2762402"/>
            <a:ext cx="6476695" cy="6476695"/>
          </a:xfrm>
          <a:prstGeom prst="rect">
            <a:avLst/>
          </a:prstGeom>
          <a:solidFill>
            <a:srgbClr val="0B2A4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pic>
        <p:nvPicPr>
          <p:cNvPr id="5" name="Image 0" descr="gen-dedup-cfc304a6ff6b7471c886aeceb308770f.png"/>
          <p:cNvPicPr>
            <a:picLocks noChangeAspect="1"/>
          </p:cNvPicPr>
          <p:nvPr/>
        </p:nvPicPr>
        <p:blipFill>
          <a:blip r:embed="rId3"/>
          <a:srcRect t="-420" b="-420"/>
          <a:stretch/>
        </p:blipFill>
        <p:spPr>
          <a:xfrm>
            <a:off x="1143000" y="761695"/>
            <a:ext cx="761695" cy="38405"/>
          </a:xfrm>
          <a:prstGeom prst="rect">
            <a:avLst/>
          </a:prstGeom>
        </p:spPr>
      </p:pic>
      <p:pic>
        <p:nvPicPr>
          <p:cNvPr id="6" name="Image 1" descr="gen-dedup-6f7d439f1708d6b2c78fb4dcf548d03b.png"/>
          <p:cNvPicPr>
            <a:picLocks noChangeAspect="1"/>
          </p:cNvPicPr>
          <p:nvPr/>
        </p:nvPicPr>
        <p:blipFill>
          <a:blip r:embed="rId4"/>
          <a:srcRect l="-404" r="-404"/>
          <a:stretch/>
        </p:blipFill>
        <p:spPr>
          <a:xfrm>
            <a:off x="1524305" y="3619195"/>
            <a:ext cx="571500" cy="28346"/>
          </a:xfrm>
          <a:prstGeom prst="rect">
            <a:avLst/>
          </a:prstGeom>
        </p:spPr>
      </p:pic>
      <p:pic>
        <p:nvPicPr>
          <p:cNvPr id="7" name="Image 2" descr="gen-dedup-af4048a96f980aca3b3a898d26cc7575.png"/>
          <p:cNvPicPr>
            <a:picLocks noChangeAspect="1"/>
          </p:cNvPicPr>
          <p:nvPr/>
        </p:nvPicPr>
        <p:blipFill>
          <a:blip r:embed="rId5"/>
          <a:srcRect l="-2083" r="-2083"/>
          <a:stretch/>
        </p:blipFill>
        <p:spPr>
          <a:xfrm>
            <a:off x="1524305" y="8287207"/>
            <a:ext cx="5715000" cy="9144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1143000" y="952805"/>
            <a:ext cx="571500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1F5A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INTRODUCTION</a:t>
            </a:r>
            <a:endParaRPr lang="en-US" sz="1300" dirty="0"/>
          </a:p>
        </p:txBody>
      </p:sp>
      <p:sp>
        <p:nvSpPr>
          <p:cNvPr id="9" name="Text 4"/>
          <p:cNvSpPr txBox="1"/>
          <p:nvPr/>
        </p:nvSpPr>
        <p:spPr>
          <a:xfrm>
            <a:off x="1143000" y="1429207"/>
            <a:ext cx="14287500" cy="685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100" b="1" kern="0" spc="-75" dirty="0">
                <a:solidFill>
                  <a:srgbClr val="0B2A4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Research aim and tasks</a:t>
            </a:r>
            <a:endParaRPr lang="en-US" sz="5100" dirty="0"/>
          </a:p>
        </p:txBody>
      </p:sp>
      <p:sp>
        <p:nvSpPr>
          <p:cNvPr id="10" name="Text 5"/>
          <p:cNvSpPr txBox="1"/>
          <p:nvPr/>
        </p:nvSpPr>
        <p:spPr>
          <a:xfrm>
            <a:off x="16573500" y="9715500"/>
            <a:ext cx="762610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000" kern="0" spc="150" dirty="0">
                <a:solidFill>
                  <a:srgbClr val="6A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 / 16</a:t>
            </a:r>
            <a:endParaRPr lang="en-US" sz="1000" dirty="0"/>
          </a:p>
        </p:txBody>
      </p:sp>
      <p:sp>
        <p:nvSpPr>
          <p:cNvPr id="11" name="Text 6"/>
          <p:cNvSpPr txBox="1"/>
          <p:nvPr/>
        </p:nvSpPr>
        <p:spPr>
          <a:xfrm>
            <a:off x="1524305" y="3143707"/>
            <a:ext cx="5715000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C9A2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AIM</a:t>
            </a:r>
            <a:endParaRPr lang="en-US" sz="1200" dirty="0"/>
          </a:p>
        </p:txBody>
      </p:sp>
      <p:sp>
        <p:nvSpPr>
          <p:cNvPr id="12" name="Text 7"/>
          <p:cNvSpPr txBox="1"/>
          <p:nvPr/>
        </p:nvSpPr>
        <p:spPr>
          <a:xfrm>
            <a:off x="1524305" y="3905402"/>
            <a:ext cx="5715000" cy="2448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FFFFFF"/>
                </a:solidFill>
                <a:latin typeface="var(--serif)" pitchFamily="34" charset="0"/>
                <a:ea typeface="var(--serif)" pitchFamily="34" charset="-122"/>
                <a:cs typeface="var(--serif)" pitchFamily="34" charset="-120"/>
              </a:rPr>
              <a:t> To design, implement and evaluate an open, transparent rule-based TTS system for North Azerbaijani </a:t>
            </a:r>
            <a:r>
              <a:rPr lang="en-US" sz="2800" b="1" dirty="0">
                <a:solidFill>
                  <a:srgbClr val="C9A227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without requiring training data</a:t>
            </a:r>
            <a:r>
              <a:rPr lang="en-US" sz="2800" dirty="0">
                <a:solidFill>
                  <a:srgbClr val="FFFFFF"/>
                </a:solidFill>
                <a:latin typeface="var(--serif)" pitchFamily="34" charset="0"/>
                <a:ea typeface="var(--serif)" pitchFamily="34" charset="-122"/>
                <a:cs typeface="var(--serif)" pitchFamily="34" charset="-120"/>
              </a:rPr>
              <a:t>. </a:t>
            </a:r>
            <a:endParaRPr lang="en-US" sz="2800" dirty="0"/>
          </a:p>
        </p:txBody>
      </p:sp>
      <p:sp>
        <p:nvSpPr>
          <p:cNvPr id="13" name="Text 8"/>
          <p:cNvSpPr txBox="1"/>
          <p:nvPr/>
        </p:nvSpPr>
        <p:spPr>
          <a:xfrm>
            <a:off x="1524305" y="8477402"/>
            <a:ext cx="5715000" cy="2578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9FB4D1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“An interpretable baseline for low-resource languages.”</a:t>
            </a:r>
            <a:endParaRPr lang="en-US" sz="1300" dirty="0"/>
          </a:p>
        </p:txBody>
      </p:sp>
      <p:sp>
        <p:nvSpPr>
          <p:cNvPr id="14" name="Text 9"/>
          <p:cNvSpPr txBox="1"/>
          <p:nvPr/>
        </p:nvSpPr>
        <p:spPr>
          <a:xfrm>
            <a:off x="8096098" y="2762402"/>
            <a:ext cx="5715000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1F5A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FIVE TASKS</a:t>
            </a:r>
            <a:endParaRPr lang="en-US" sz="1200" dirty="0"/>
          </a:p>
        </p:txBody>
      </p:sp>
      <p:sp>
        <p:nvSpPr>
          <p:cNvPr id="15" name="Shape 10"/>
          <p:cNvSpPr/>
          <p:nvPr/>
        </p:nvSpPr>
        <p:spPr>
          <a:xfrm>
            <a:off x="8096098" y="4401007"/>
            <a:ext cx="9048902" cy="9144"/>
          </a:xfrm>
          <a:prstGeom prst="rect">
            <a:avLst/>
          </a:prstGeom>
          <a:solidFill>
            <a:srgbClr val="D8DEE6"/>
          </a:solidFill>
          <a:ln w="12700">
            <a:solidFill>
              <a:srgbClr val="D8DEE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16" name="Text 11"/>
          <p:cNvSpPr txBox="1"/>
          <p:nvPr/>
        </p:nvSpPr>
        <p:spPr>
          <a:xfrm>
            <a:off x="8096098" y="3238805"/>
            <a:ext cx="9048902" cy="97292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90500" rIns="19050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C9A227"/>
                </a:solidFill>
                <a:latin typeface="var(--serif)" pitchFamily="34" charset="0"/>
                <a:ea typeface="var(--serif)" pitchFamily="34" charset="-122"/>
                <a:cs typeface="var(--serif)" pitchFamily="34" charset="-120"/>
              </a:rPr>
              <a:t>01 </a:t>
            </a:r>
            <a:r>
              <a:rPr lang="en-US" sz="1800" dirty="0">
                <a:solidFill>
                  <a:srgbClr val="0E17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Comparative review of TTS paradigms (formant, concatenative, statistical, neural).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8096098" y="5564124"/>
            <a:ext cx="9048902" cy="9144"/>
          </a:xfrm>
          <a:prstGeom prst="rect">
            <a:avLst/>
          </a:prstGeom>
          <a:solidFill>
            <a:srgbClr val="D8DEE6"/>
          </a:solidFill>
          <a:ln w="12700">
            <a:solidFill>
              <a:srgbClr val="D8DEE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18" name="Text 13"/>
          <p:cNvSpPr txBox="1"/>
          <p:nvPr/>
        </p:nvSpPr>
        <p:spPr>
          <a:xfrm>
            <a:off x="8096098" y="4401922"/>
            <a:ext cx="9048902" cy="97292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90500" rIns="19050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C9A227"/>
                </a:solidFill>
                <a:latin typeface="var(--serif)" pitchFamily="34" charset="0"/>
                <a:ea typeface="var(--serif)" pitchFamily="34" charset="-122"/>
                <a:cs typeface="var(--serif)" pitchFamily="34" charset="-120"/>
              </a:rPr>
              <a:t>02 </a:t>
            </a:r>
            <a:r>
              <a:rPr lang="en-US" sz="1800" dirty="0">
                <a:solidFill>
                  <a:srgbClr val="0E17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Systematize the phonological and prosodic features of Azerbaijani relevant to TTS.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8096098" y="6442862"/>
            <a:ext cx="9048902" cy="9144"/>
          </a:xfrm>
          <a:prstGeom prst="rect">
            <a:avLst/>
          </a:prstGeom>
          <a:solidFill>
            <a:srgbClr val="D8DEE6"/>
          </a:solidFill>
          <a:ln w="12700">
            <a:solidFill>
              <a:srgbClr val="D8DEE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20" name="Text 15"/>
          <p:cNvSpPr txBox="1"/>
          <p:nvPr/>
        </p:nvSpPr>
        <p:spPr>
          <a:xfrm>
            <a:off x="8096098" y="5565953"/>
            <a:ext cx="9048902" cy="68671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90500" rIns="19050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C9A227"/>
                </a:solidFill>
                <a:latin typeface="var(--serif)" pitchFamily="34" charset="0"/>
                <a:ea typeface="var(--serif)" pitchFamily="34" charset="-122"/>
                <a:cs typeface="var(--serif)" pitchFamily="34" charset="-120"/>
              </a:rPr>
              <a:t>03 </a:t>
            </a:r>
            <a:r>
              <a:rPr lang="en-US" sz="1800" dirty="0">
                <a:solidFill>
                  <a:srgbClr val="0E17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Design a modular five-stage pipeline architecture.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>
            <a:off x="8096098" y="7328916"/>
            <a:ext cx="9048902" cy="9144"/>
          </a:xfrm>
          <a:prstGeom prst="rect">
            <a:avLst/>
          </a:prstGeom>
          <a:solidFill>
            <a:srgbClr val="D8DEE6"/>
          </a:solidFill>
          <a:ln w="12700">
            <a:solidFill>
              <a:srgbClr val="D8DEE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22" name="Text 17"/>
          <p:cNvSpPr txBox="1"/>
          <p:nvPr/>
        </p:nvSpPr>
        <p:spPr>
          <a:xfrm>
            <a:off x="8096098" y="6452006"/>
            <a:ext cx="9048902" cy="68671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90500" rIns="19050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C9A227"/>
                </a:solidFill>
                <a:latin typeface="var(--serif)" pitchFamily="34" charset="0"/>
                <a:ea typeface="var(--serif)" pitchFamily="34" charset="-122"/>
                <a:cs typeface="var(--serif)" pitchFamily="34" charset="-120"/>
              </a:rPr>
              <a:t>04 </a:t>
            </a:r>
            <a:r>
              <a:rPr lang="en-US" sz="1800" dirty="0">
                <a:solidFill>
                  <a:srgbClr val="0E17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Implement in Python and validate with a 156-case unit-test suite.</a:t>
            </a:r>
            <a:endParaRPr lang="en-US" sz="1200" dirty="0"/>
          </a:p>
        </p:txBody>
      </p:sp>
      <p:sp>
        <p:nvSpPr>
          <p:cNvPr id="23" name="Text 18"/>
          <p:cNvSpPr txBox="1"/>
          <p:nvPr/>
        </p:nvSpPr>
        <p:spPr>
          <a:xfrm>
            <a:off x="8287208" y="7344850"/>
            <a:ext cx="9048902" cy="8769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C9A227"/>
                </a:solidFill>
                <a:latin typeface="var(--serif)" pitchFamily="34" charset="0"/>
                <a:ea typeface="var(--serif)" pitchFamily="34" charset="-122"/>
                <a:cs typeface="var(--serif)" pitchFamily="34" charset="-120"/>
              </a:rPr>
              <a:t>05 </a:t>
            </a:r>
            <a:r>
              <a:rPr lang="en-US" sz="1800" dirty="0">
                <a:solidFill>
                  <a:srgbClr val="0E17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Evaluate against a baseline using MOS and WER.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pic>
        <p:nvPicPr>
          <p:cNvPr id="4" name="Image 0" descr="gen-dedup-cfc304a6ff6b7471c886aeceb308770f.png"/>
          <p:cNvPicPr>
            <a:picLocks noChangeAspect="1"/>
          </p:cNvPicPr>
          <p:nvPr/>
        </p:nvPicPr>
        <p:blipFill>
          <a:blip r:embed="rId3"/>
          <a:srcRect t="-420" b="-420"/>
          <a:stretch/>
        </p:blipFill>
        <p:spPr>
          <a:xfrm>
            <a:off x="1143000" y="761695"/>
            <a:ext cx="761695" cy="38405"/>
          </a:xfrm>
          <a:prstGeom prst="rect">
            <a:avLst/>
          </a:prstGeom>
        </p:spPr>
      </p:pic>
      <p:pic>
        <p:nvPicPr>
          <p:cNvPr id="5" name="Image 1" descr="gen-dedup-6f7d439f1708d6b2c78fb4dcf548d03b.png"/>
          <p:cNvPicPr>
            <a:picLocks noChangeAspect="1"/>
          </p:cNvPicPr>
          <p:nvPr/>
        </p:nvPicPr>
        <p:blipFill>
          <a:blip r:embed="rId4"/>
          <a:srcRect l="-404" r="-404"/>
          <a:stretch/>
        </p:blipFill>
        <p:spPr>
          <a:xfrm>
            <a:off x="1143000" y="3238805"/>
            <a:ext cx="571500" cy="28346"/>
          </a:xfrm>
          <a:prstGeom prst="rect">
            <a:avLst/>
          </a:prstGeom>
        </p:spPr>
      </p:pic>
      <p:pic>
        <p:nvPicPr>
          <p:cNvPr id="6" name="Image 2" descr="gen-dedup-4b5a8e9f8869b57674187ce28bb24099.png"/>
          <p:cNvPicPr>
            <a:picLocks noChangeAspect="1"/>
          </p:cNvPicPr>
          <p:nvPr/>
        </p:nvPicPr>
        <p:blipFill>
          <a:blip r:embed="rId5"/>
          <a:srcRect t="-2083" b="-2083"/>
          <a:stretch/>
        </p:blipFill>
        <p:spPr>
          <a:xfrm>
            <a:off x="9525305" y="2857500"/>
            <a:ext cx="9144" cy="6476695"/>
          </a:xfrm>
          <a:prstGeom prst="rect">
            <a:avLst/>
          </a:prstGeom>
        </p:spPr>
      </p:pic>
      <p:pic>
        <p:nvPicPr>
          <p:cNvPr id="7" name="Image 3" descr="gen-dedup-545273c5b88c031807eeb591ce4170ae.png"/>
          <p:cNvPicPr>
            <a:picLocks noChangeAspect="1"/>
          </p:cNvPicPr>
          <p:nvPr/>
        </p:nvPicPr>
        <p:blipFill>
          <a:blip r:embed="rId6"/>
          <a:srcRect l="-404" r="-404"/>
          <a:stretch/>
        </p:blipFill>
        <p:spPr>
          <a:xfrm>
            <a:off x="9905695" y="3238805"/>
            <a:ext cx="571500" cy="28346"/>
          </a:xfrm>
          <a:prstGeom prst="rect">
            <a:avLst/>
          </a:prstGeom>
        </p:spPr>
      </p:pic>
      <p:pic>
        <p:nvPicPr>
          <p:cNvPr id="8" name="Image 4" descr="gen-dedup-9ba1d63789b373b2799f8e7becbeeaef.png"/>
          <p:cNvPicPr>
            <a:picLocks noChangeAspect="1"/>
          </p:cNvPicPr>
          <p:nvPr/>
        </p:nvPicPr>
        <p:blipFill>
          <a:blip r:embed="rId7"/>
          <a:srcRect l="-2083" r="-2083"/>
          <a:stretch/>
        </p:blipFill>
        <p:spPr>
          <a:xfrm>
            <a:off x="1143000" y="9525305"/>
            <a:ext cx="16002000" cy="9144"/>
          </a:xfrm>
          <a:prstGeom prst="rect">
            <a:avLst/>
          </a:prstGeom>
        </p:spPr>
      </p:pic>
      <p:sp>
        <p:nvSpPr>
          <p:cNvPr id="9" name="Text 2"/>
          <p:cNvSpPr txBox="1"/>
          <p:nvPr/>
        </p:nvSpPr>
        <p:spPr>
          <a:xfrm>
            <a:off x="1143000" y="952805"/>
            <a:ext cx="571500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1F5A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INTRODUCTION</a:t>
            </a:r>
            <a:endParaRPr lang="en-US" sz="1300" dirty="0"/>
          </a:p>
        </p:txBody>
      </p:sp>
      <p:sp>
        <p:nvSpPr>
          <p:cNvPr id="10" name="Text 3"/>
          <p:cNvSpPr txBox="1"/>
          <p:nvPr/>
        </p:nvSpPr>
        <p:spPr>
          <a:xfrm>
            <a:off x="1143000" y="1429207"/>
            <a:ext cx="16573500" cy="685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100" b="1" kern="0" spc="-75" dirty="0">
                <a:solidFill>
                  <a:srgbClr val="0B2A4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Scientific novelty and practical significance</a:t>
            </a:r>
            <a:endParaRPr lang="en-US" sz="5100" dirty="0"/>
          </a:p>
        </p:txBody>
      </p:sp>
      <p:sp>
        <p:nvSpPr>
          <p:cNvPr id="11" name="Text 4"/>
          <p:cNvSpPr txBox="1"/>
          <p:nvPr/>
        </p:nvSpPr>
        <p:spPr>
          <a:xfrm>
            <a:off x="16573500" y="9715500"/>
            <a:ext cx="762610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000" kern="0" spc="150" dirty="0">
                <a:solidFill>
                  <a:srgbClr val="6A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 / 16</a:t>
            </a:r>
            <a:endParaRPr lang="en-US" sz="1000" dirty="0"/>
          </a:p>
        </p:txBody>
      </p:sp>
      <p:sp>
        <p:nvSpPr>
          <p:cNvPr id="12" name="Text 5"/>
          <p:cNvSpPr txBox="1"/>
          <p:nvPr/>
        </p:nvSpPr>
        <p:spPr>
          <a:xfrm>
            <a:off x="1143000" y="2857500"/>
            <a:ext cx="8001000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C9A2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SCIENTIFIC NOVELTY</a:t>
            </a:r>
            <a:endParaRPr lang="en-US" sz="1200" dirty="0"/>
          </a:p>
        </p:txBody>
      </p:sp>
      <p:sp>
        <p:nvSpPr>
          <p:cNvPr id="13" name="Text 6"/>
          <p:cNvSpPr txBox="1"/>
          <p:nvPr/>
        </p:nvSpPr>
        <p:spPr>
          <a:xfrm>
            <a:off x="1143000" y="3524098"/>
            <a:ext cx="8001000" cy="8769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0B2A4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The first openly published, documented rule-based TTS system for North Azerbaijani.</a:t>
            </a:r>
            <a:endParaRPr lang="en-US" sz="2500" dirty="0"/>
          </a:p>
        </p:txBody>
      </p:sp>
      <p:sp>
        <p:nvSpPr>
          <p:cNvPr id="14" name="Text 7"/>
          <p:cNvSpPr txBox="1"/>
          <p:nvPr/>
        </p:nvSpPr>
        <p:spPr>
          <a:xfrm>
            <a:off x="1143000" y="5524805"/>
            <a:ext cx="8001000" cy="6574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2B3A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The computational encoding of phonological rules is validated by a </a:t>
            </a:r>
            <a:r>
              <a:rPr lang="en-US" sz="1600" b="1" dirty="0">
                <a:solidFill>
                  <a:srgbClr val="0B2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156-case test suite</a:t>
            </a:r>
            <a:r>
              <a:rPr lang="en-US" sz="1600" dirty="0">
                <a:solidFill>
                  <a:srgbClr val="2B3A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covering </a:t>
            </a:r>
            <a:r>
              <a:rPr lang="en-US" sz="1600" b="1" dirty="0">
                <a:solidFill>
                  <a:srgbClr val="0B2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61 linguistic phenomena</a:t>
            </a:r>
            <a:r>
              <a:rPr lang="en-US" sz="1600" dirty="0">
                <a:solidFill>
                  <a:srgbClr val="2B3A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 </a:t>
            </a:r>
            <a:endParaRPr lang="en-US" sz="1600" dirty="0"/>
          </a:p>
        </p:txBody>
      </p:sp>
      <p:sp>
        <p:nvSpPr>
          <p:cNvPr id="15" name="Text 8"/>
          <p:cNvSpPr txBox="1"/>
          <p:nvPr/>
        </p:nvSpPr>
        <p:spPr>
          <a:xfrm>
            <a:off x="9905695" y="2857500"/>
            <a:ext cx="7239305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1F5A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PRACTICAL SIGNIFICANCE</a:t>
            </a:r>
            <a:endParaRPr lang="en-US" sz="1200" dirty="0"/>
          </a:p>
        </p:txBody>
      </p:sp>
      <p:sp>
        <p:nvSpPr>
          <p:cNvPr id="16" name="Shape 9"/>
          <p:cNvSpPr/>
          <p:nvPr/>
        </p:nvSpPr>
        <p:spPr>
          <a:xfrm>
            <a:off x="9905695" y="3619195"/>
            <a:ext cx="3504895" cy="1485900"/>
          </a:xfrm>
          <a:prstGeom prst="rect">
            <a:avLst/>
          </a:prstGeom>
          <a:solidFill>
            <a:srgbClr val="F4F6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17" name="Text 10"/>
          <p:cNvSpPr txBox="1"/>
          <p:nvPr/>
        </p:nvSpPr>
        <p:spPr>
          <a:xfrm>
            <a:off x="10153498" y="3847795"/>
            <a:ext cx="3010205" cy="3913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2200" b="1" dirty="0">
                <a:solidFill>
                  <a:srgbClr val="0B2A4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Accessibility</a:t>
            </a:r>
            <a:endParaRPr lang="en-US" sz="2200" dirty="0"/>
          </a:p>
        </p:txBody>
      </p:sp>
      <p:sp>
        <p:nvSpPr>
          <p:cNvPr id="18" name="Text 11"/>
          <p:cNvSpPr txBox="1"/>
          <p:nvPr/>
        </p:nvSpPr>
        <p:spPr>
          <a:xfrm>
            <a:off x="10153498" y="4334256"/>
            <a:ext cx="3010205" cy="534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B3A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Screen readers for visually-impaired users</a:t>
            </a:r>
            <a:endParaRPr lang="en-US" sz="1500" dirty="0"/>
          </a:p>
        </p:txBody>
      </p:sp>
      <p:sp>
        <p:nvSpPr>
          <p:cNvPr id="19" name="Shape 12"/>
          <p:cNvSpPr/>
          <p:nvPr/>
        </p:nvSpPr>
        <p:spPr>
          <a:xfrm>
            <a:off x="13640105" y="3619195"/>
            <a:ext cx="3504895" cy="1485900"/>
          </a:xfrm>
          <a:prstGeom prst="rect">
            <a:avLst/>
          </a:prstGeom>
          <a:solidFill>
            <a:srgbClr val="F4F6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20" name="Text 13"/>
          <p:cNvSpPr txBox="1"/>
          <p:nvPr/>
        </p:nvSpPr>
        <p:spPr>
          <a:xfrm>
            <a:off x="13887907" y="3847795"/>
            <a:ext cx="3010205" cy="4005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B2A4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e‑Gov</a:t>
            </a:r>
            <a:endParaRPr lang="en-US" sz="2200" dirty="0"/>
          </a:p>
        </p:txBody>
      </p:sp>
      <p:sp>
        <p:nvSpPr>
          <p:cNvPr id="21" name="Text 14"/>
          <p:cNvSpPr txBox="1"/>
          <p:nvPr/>
        </p:nvSpPr>
        <p:spPr>
          <a:xfrm>
            <a:off x="13887907" y="4343400"/>
            <a:ext cx="3010205" cy="534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B3A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ASAN services, voicing of government portals</a:t>
            </a:r>
            <a:endParaRPr lang="en-US" sz="1500" dirty="0"/>
          </a:p>
        </p:txBody>
      </p:sp>
      <p:sp>
        <p:nvSpPr>
          <p:cNvPr id="22" name="Shape 15"/>
          <p:cNvSpPr/>
          <p:nvPr/>
        </p:nvSpPr>
        <p:spPr>
          <a:xfrm>
            <a:off x="9905695" y="5333695"/>
            <a:ext cx="3504895" cy="1476756"/>
          </a:xfrm>
          <a:prstGeom prst="rect">
            <a:avLst/>
          </a:prstGeom>
          <a:solidFill>
            <a:srgbClr val="F4F6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23" name="Text 16"/>
          <p:cNvSpPr txBox="1"/>
          <p:nvPr/>
        </p:nvSpPr>
        <p:spPr>
          <a:xfrm>
            <a:off x="10153498" y="5562295"/>
            <a:ext cx="3010205" cy="3913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B2A4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NAV</a:t>
            </a:r>
            <a:endParaRPr lang="en-US" sz="2200" dirty="0"/>
          </a:p>
        </p:txBody>
      </p:sp>
      <p:sp>
        <p:nvSpPr>
          <p:cNvPr id="24" name="Text 17"/>
          <p:cNvSpPr txBox="1"/>
          <p:nvPr/>
        </p:nvSpPr>
        <p:spPr>
          <a:xfrm>
            <a:off x="10153498" y="6048756"/>
            <a:ext cx="3010205" cy="534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B3A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Navigation and automotive interfaces</a:t>
            </a:r>
            <a:endParaRPr lang="en-US" sz="1500" dirty="0"/>
          </a:p>
        </p:txBody>
      </p:sp>
      <p:sp>
        <p:nvSpPr>
          <p:cNvPr id="25" name="Shape 18"/>
          <p:cNvSpPr/>
          <p:nvPr/>
        </p:nvSpPr>
        <p:spPr>
          <a:xfrm>
            <a:off x="13640105" y="5333695"/>
            <a:ext cx="3504895" cy="1476756"/>
          </a:xfrm>
          <a:prstGeom prst="rect">
            <a:avLst/>
          </a:prstGeom>
          <a:solidFill>
            <a:srgbClr val="F4F6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26" name="Text 19"/>
          <p:cNvSpPr txBox="1"/>
          <p:nvPr/>
        </p:nvSpPr>
        <p:spPr>
          <a:xfrm>
            <a:off x="13887907" y="5562295"/>
            <a:ext cx="3010205" cy="3913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B2A4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EDU</a:t>
            </a:r>
            <a:endParaRPr lang="en-US" sz="2200" dirty="0"/>
          </a:p>
        </p:txBody>
      </p:sp>
      <p:sp>
        <p:nvSpPr>
          <p:cNvPr id="27" name="Text 20"/>
          <p:cNvSpPr txBox="1"/>
          <p:nvPr/>
        </p:nvSpPr>
        <p:spPr>
          <a:xfrm>
            <a:off x="13887907" y="6048756"/>
            <a:ext cx="3010205" cy="534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B3A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Language-learning and literacy platforms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3" name="Shape 1"/>
          <p:cNvSpPr/>
          <p:nvPr/>
        </p:nvSpPr>
        <p:spPr>
          <a:xfrm>
            <a:off x="0" y="10160"/>
            <a:ext cx="18288000" cy="1028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pic>
        <p:nvPicPr>
          <p:cNvPr id="4" name="Image 0" descr="gen-dedup-cfc304a6ff6b7471c886aeceb308770f.png"/>
          <p:cNvPicPr>
            <a:picLocks noChangeAspect="1"/>
          </p:cNvPicPr>
          <p:nvPr/>
        </p:nvPicPr>
        <p:blipFill>
          <a:blip r:embed="rId3"/>
          <a:srcRect t="-420" b="-420"/>
          <a:stretch/>
        </p:blipFill>
        <p:spPr>
          <a:xfrm>
            <a:off x="1143000" y="761695"/>
            <a:ext cx="761695" cy="3840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143000" y="952805"/>
            <a:ext cx="571500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1F5A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· THEORETICAL FOUNDATIONS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1143000" y="1429207"/>
            <a:ext cx="14287500" cy="685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100" b="1" kern="0" spc="-75" dirty="0">
                <a:solidFill>
                  <a:srgbClr val="0B2A4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A comparison of TTS approaches</a:t>
            </a:r>
            <a:endParaRPr lang="en-US" sz="5100" dirty="0"/>
          </a:p>
        </p:txBody>
      </p:sp>
      <p:sp>
        <p:nvSpPr>
          <p:cNvPr id="7" name="Text 4"/>
          <p:cNvSpPr txBox="1"/>
          <p:nvPr/>
        </p:nvSpPr>
        <p:spPr>
          <a:xfrm>
            <a:off x="1143000" y="2286000"/>
            <a:ext cx="14287500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i="1" dirty="0">
                <a:solidFill>
                  <a:srgbClr val="2B3A4D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From Von Kempelen's mechanical machine to modern neural architectures.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6573500" y="9715500"/>
            <a:ext cx="762610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000" kern="0" spc="150" dirty="0">
                <a:solidFill>
                  <a:srgbClr val="6A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 / 16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0173861"/>
              </p:ext>
            </p:extLst>
          </p:nvPr>
        </p:nvGraphicFramePr>
        <p:xfrm>
          <a:off x="1143000" y="3143707"/>
          <a:ext cx="16002000" cy="4657956"/>
        </p:xfrm>
        <a:graphic>
          <a:graphicData uri="http://schemas.openxmlformats.org/drawingml/2006/table">
            <a:tbl>
              <a:tblPr/>
              <a:tblGrid>
                <a:gridCol w="25528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8166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0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813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74304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77632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APPROACH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228600" marR="228600" marT="190195" marB="1901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EXAMPLE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228600" marR="228600" marT="190195" marB="1901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DATA REQUIRED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228600" marR="228600" marT="190195" marB="1901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MOS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228600" marR="228600" marT="190195" marB="1901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FIT FOR AZ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228600" marR="228600" marT="190195" marB="1901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632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0B2A4A"/>
                          </a:solidFill>
                          <a:latin typeface="Source Serif 4" pitchFamily="34" charset="0"/>
                          <a:ea typeface="Source Serif 4" pitchFamily="34" charset="-122"/>
                          <a:cs typeface="Source Serif 4" pitchFamily="34" charset="-120"/>
                        </a:rPr>
                        <a:t>Formant 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50" dirty="0">
                          <a:solidFill>
                            <a:srgbClr val="2B3A4D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DECtalk, </a:t>
                      </a:r>
                      <a:r>
                        <a:rPr lang="en-US" sz="1650" dirty="0" err="1">
                          <a:solidFill>
                            <a:srgbClr val="2B3A4D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MITalk</a:t>
                      </a:r>
                      <a:r>
                        <a:rPr lang="en-US" sz="1650" dirty="0">
                          <a:solidFill>
                            <a:srgbClr val="2B3A4D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(Mathematic way)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228600" marR="228600" marT="228600" marB="228600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50" dirty="0">
                          <a:solidFill>
                            <a:srgbClr val="2B3A4D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None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228600" marR="228600" marT="228600" marB="228600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50" dirty="0">
                          <a:solidFill>
                            <a:srgbClr val="2B3A4D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2.0–2.5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228600" marR="228600" marT="228600" marB="228600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50" dirty="0">
                          <a:solidFill>
                            <a:srgbClr val="6A768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Mechanical quality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228600" marR="228600" marT="228600" marB="228600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7632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0B2A4A"/>
                          </a:solidFill>
                          <a:latin typeface="Source Serif 4" pitchFamily="34" charset="0"/>
                          <a:ea typeface="Source Serif 4" pitchFamily="34" charset="-122"/>
                          <a:cs typeface="Source Serif 4" pitchFamily="34" charset="-120"/>
                        </a:rPr>
                        <a:t>Concatenative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50" dirty="0">
                          <a:solidFill>
                            <a:srgbClr val="2B3A4D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Festival (real voice cutting)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228600" marR="228600" marT="228600" marB="228600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50" dirty="0">
                          <a:solidFill>
                            <a:srgbClr val="2B3A4D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Large unit bank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228600" marR="228600" marT="228600" marB="228600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50" dirty="0">
                          <a:solidFill>
                            <a:srgbClr val="2B3A4D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3.0–3.5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228600" marR="228600" marT="228600" marB="228600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50" dirty="0">
                          <a:solidFill>
                            <a:srgbClr val="6A768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Bank not available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228600" marR="228600" marT="228600" marB="228600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7632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0B2A4A"/>
                          </a:solidFill>
                          <a:latin typeface="Source Serif 4" pitchFamily="34" charset="0"/>
                          <a:ea typeface="Source Serif 4" pitchFamily="34" charset="-122"/>
                          <a:cs typeface="Source Serif 4" pitchFamily="34" charset="-120"/>
                        </a:rPr>
                        <a:t>Statistical (HMM)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50" dirty="0">
                          <a:solidFill>
                            <a:srgbClr val="2B3A4D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HTS (Hidden Markov Model, still need huge data)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228600" marR="228600" marT="228600" marB="228600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50" dirty="0">
                          <a:solidFill>
                            <a:srgbClr val="2B3A4D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5–20 hours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228600" marR="228600" marT="228600" marB="228600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50" dirty="0">
                          <a:solidFill>
                            <a:srgbClr val="2B3A4D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3.2–3.6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228600" marR="228600" marT="228600" marB="228600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50" dirty="0">
                          <a:solidFill>
                            <a:srgbClr val="6A768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No corpus exists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228600" marR="228600" marT="228600" marB="228600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7632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0B2A4A"/>
                          </a:solidFill>
                          <a:latin typeface="Source Serif 4" pitchFamily="34" charset="0"/>
                          <a:ea typeface="Source Serif 4" pitchFamily="34" charset="-122"/>
                          <a:cs typeface="Source Serif 4" pitchFamily="34" charset="-120"/>
                        </a:rPr>
                        <a:t>Neural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50" dirty="0">
                          <a:solidFill>
                            <a:srgbClr val="2B3A4D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Tacotron, VITS (</a:t>
                      </a:r>
                      <a:r>
                        <a:rPr lang="en-AZ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20+ hours of clean, labelled speech</a:t>
                      </a:r>
                      <a:r>
                        <a:rPr lang="en-US" sz="1650" dirty="0">
                          <a:solidFill>
                            <a:srgbClr val="2B3A4D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)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228600" marR="228600" marT="228600" marB="228600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50" dirty="0">
                          <a:solidFill>
                            <a:srgbClr val="2B3A4D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20+ hrs, high quality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228600" marR="228600" marT="228600" marB="228600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50" dirty="0">
                          <a:solidFill>
                            <a:srgbClr val="2B3A4D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4.2–4.5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228600" marR="228600" marT="228600" marB="228600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50" dirty="0">
                          <a:solidFill>
                            <a:srgbClr val="6A768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Resources lacking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228600" marR="228600" marT="228600" marB="228600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7632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950" b="1" dirty="0">
                          <a:solidFill>
                            <a:srgbClr val="C9A227"/>
                          </a:solidFill>
                          <a:latin typeface="Source Serif 4" pitchFamily="34" charset="0"/>
                          <a:ea typeface="Source Serif 4" pitchFamily="34" charset="-122"/>
                          <a:cs typeface="Source Serif 4" pitchFamily="34" charset="-120"/>
                        </a:rPr>
                        <a:t>Rule-based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5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This thesis (only with rules)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228600" marR="228600" marT="228600" marB="228600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NONE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228600" marR="228600" marT="228600" marB="228600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3.2 (measured)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228600" marR="228600" marT="228600" marB="228600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50" b="1" dirty="0">
                          <a:solidFill>
                            <a:srgbClr val="C9A2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Ideal starting point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228600" marR="228600" marT="228600" marB="228600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1143000" y="9144000"/>
            <a:ext cx="16002000" cy="2386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6A7686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MOS = Mean Opinion Score (1–5). Sources: published literature and the experimental results of this thesis.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4" name="Shape 2"/>
          <p:cNvSpPr/>
          <p:nvPr/>
        </p:nvSpPr>
        <p:spPr>
          <a:xfrm>
            <a:off x="1143000" y="2952598"/>
            <a:ext cx="3810305" cy="5715000"/>
          </a:xfrm>
          <a:prstGeom prst="rect">
            <a:avLst/>
          </a:prstGeom>
          <a:solidFill>
            <a:srgbClr val="F4F6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5" name="Shape 3"/>
          <p:cNvSpPr/>
          <p:nvPr/>
        </p:nvSpPr>
        <p:spPr>
          <a:xfrm>
            <a:off x="5143500" y="2952598"/>
            <a:ext cx="3810305" cy="5715000"/>
          </a:xfrm>
          <a:prstGeom prst="rect">
            <a:avLst/>
          </a:prstGeom>
          <a:solidFill>
            <a:srgbClr val="F4F6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6" name="Shape 4"/>
          <p:cNvSpPr/>
          <p:nvPr/>
        </p:nvSpPr>
        <p:spPr>
          <a:xfrm>
            <a:off x="9144000" y="2952598"/>
            <a:ext cx="3810305" cy="5715000"/>
          </a:xfrm>
          <a:prstGeom prst="rect">
            <a:avLst/>
          </a:prstGeom>
          <a:solidFill>
            <a:srgbClr val="F4F6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7" name="Shape 5"/>
          <p:cNvSpPr/>
          <p:nvPr/>
        </p:nvSpPr>
        <p:spPr>
          <a:xfrm>
            <a:off x="13144500" y="2952598"/>
            <a:ext cx="4000500" cy="5715000"/>
          </a:xfrm>
          <a:prstGeom prst="rect">
            <a:avLst/>
          </a:prstGeom>
          <a:solidFill>
            <a:srgbClr val="0B2A4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pic>
        <p:nvPicPr>
          <p:cNvPr id="8" name="Image 0" descr="gen-dedup-cfc304a6ff6b7471c886aeceb308770f.png"/>
          <p:cNvPicPr>
            <a:picLocks noChangeAspect="1"/>
          </p:cNvPicPr>
          <p:nvPr/>
        </p:nvPicPr>
        <p:blipFill>
          <a:blip r:embed="rId3"/>
          <a:srcRect t="-420" b="-420"/>
          <a:stretch/>
        </p:blipFill>
        <p:spPr>
          <a:xfrm>
            <a:off x="1143000" y="761695"/>
            <a:ext cx="761695" cy="38405"/>
          </a:xfrm>
          <a:prstGeom prst="rect">
            <a:avLst/>
          </a:prstGeom>
        </p:spPr>
      </p:pic>
      <p:pic>
        <p:nvPicPr>
          <p:cNvPr id="9" name="Image 1" descr="gen-dedup-4ee3cfa203b849b5454cccf02c9b0b6e.png"/>
          <p:cNvPicPr>
            <a:picLocks noChangeAspect="1"/>
          </p:cNvPicPr>
          <p:nvPr/>
        </p:nvPicPr>
        <p:blipFill>
          <a:blip r:embed="rId4"/>
          <a:srcRect l="-205" r="-205"/>
          <a:stretch/>
        </p:blipFill>
        <p:spPr>
          <a:xfrm>
            <a:off x="1143000" y="2952598"/>
            <a:ext cx="3810305" cy="75895"/>
          </a:xfrm>
          <a:prstGeom prst="rect">
            <a:avLst/>
          </a:prstGeom>
        </p:spPr>
      </p:pic>
      <p:pic>
        <p:nvPicPr>
          <p:cNvPr id="10" name="Image 2" descr="gen-dedup-1324ffa2e245868b5924cf46bc3d5b04.png"/>
          <p:cNvPicPr>
            <a:picLocks noChangeAspect="1"/>
          </p:cNvPicPr>
          <p:nvPr/>
        </p:nvPicPr>
        <p:blipFill>
          <a:blip r:embed="rId5"/>
          <a:srcRect l="-205" r="-205"/>
          <a:stretch/>
        </p:blipFill>
        <p:spPr>
          <a:xfrm>
            <a:off x="5143500" y="2952598"/>
            <a:ext cx="3810305" cy="75895"/>
          </a:xfrm>
          <a:prstGeom prst="rect">
            <a:avLst/>
          </a:prstGeom>
        </p:spPr>
      </p:pic>
      <p:pic>
        <p:nvPicPr>
          <p:cNvPr id="11" name="Image 3" descr="gen-dedup-b6765dc185a8f4fa23b7145317e953fd.png"/>
          <p:cNvPicPr>
            <a:picLocks noChangeAspect="1"/>
          </p:cNvPicPr>
          <p:nvPr/>
        </p:nvPicPr>
        <p:blipFill>
          <a:blip r:embed="rId6"/>
          <a:srcRect l="-205" r="-205"/>
          <a:stretch/>
        </p:blipFill>
        <p:spPr>
          <a:xfrm>
            <a:off x="9144000" y="2952598"/>
            <a:ext cx="3810305" cy="75895"/>
          </a:xfrm>
          <a:prstGeom prst="rect">
            <a:avLst/>
          </a:prstGeom>
        </p:spPr>
      </p:pic>
      <p:pic>
        <p:nvPicPr>
          <p:cNvPr id="12" name="Image 4" descr="gen-dedup-9ba1d63789b373b2799f8e7becbeeaef.png"/>
          <p:cNvPicPr>
            <a:picLocks noChangeAspect="1"/>
          </p:cNvPicPr>
          <p:nvPr/>
        </p:nvPicPr>
        <p:blipFill>
          <a:blip r:embed="rId7"/>
          <a:srcRect l="-2083" r="-2083"/>
          <a:stretch/>
        </p:blipFill>
        <p:spPr>
          <a:xfrm>
            <a:off x="1143000" y="9048902"/>
            <a:ext cx="16002000" cy="9144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1143000" y="952805"/>
            <a:ext cx="571500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1F5A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· THEORETICAL FOUNDATIONS</a:t>
            </a:r>
            <a:endParaRPr lang="en-US" sz="1300" dirty="0"/>
          </a:p>
        </p:txBody>
      </p:sp>
      <p:sp>
        <p:nvSpPr>
          <p:cNvPr id="14" name="Text 7"/>
          <p:cNvSpPr txBox="1"/>
          <p:nvPr/>
        </p:nvSpPr>
        <p:spPr>
          <a:xfrm>
            <a:off x="1143000" y="1429207"/>
            <a:ext cx="14287500" cy="685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100" b="1" kern="0" spc="-75" dirty="0">
                <a:solidFill>
                  <a:srgbClr val="0B2A4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Why a rule-based approach?</a:t>
            </a:r>
            <a:endParaRPr lang="en-US" sz="5100" dirty="0"/>
          </a:p>
        </p:txBody>
      </p:sp>
      <p:sp>
        <p:nvSpPr>
          <p:cNvPr id="15" name="Text 8"/>
          <p:cNvSpPr txBox="1"/>
          <p:nvPr/>
        </p:nvSpPr>
        <p:spPr>
          <a:xfrm>
            <a:off x="16573500" y="9715500"/>
            <a:ext cx="762610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000" kern="0" spc="150" dirty="0">
                <a:solidFill>
                  <a:srgbClr val="6A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 / 16</a:t>
            </a:r>
            <a:endParaRPr lang="en-US" sz="1000" dirty="0"/>
          </a:p>
        </p:txBody>
      </p:sp>
      <p:sp>
        <p:nvSpPr>
          <p:cNvPr id="16" name="Text 9"/>
          <p:cNvSpPr txBox="1"/>
          <p:nvPr/>
        </p:nvSpPr>
        <p:spPr>
          <a:xfrm>
            <a:off x="1429207" y="3333902"/>
            <a:ext cx="3238805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25" dirty="0">
                <a:solidFill>
                  <a:srgbClr val="6A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1000" dirty="0"/>
          </a:p>
        </p:txBody>
      </p:sp>
      <p:sp>
        <p:nvSpPr>
          <p:cNvPr id="17" name="Text 10"/>
          <p:cNvSpPr txBox="1"/>
          <p:nvPr/>
        </p:nvSpPr>
        <p:spPr>
          <a:xfrm>
            <a:off x="1429207" y="3629254"/>
            <a:ext cx="3238805" cy="7525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0B2A4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Zero data requirement</a:t>
            </a:r>
            <a:endParaRPr lang="en-US" sz="2500" dirty="0"/>
          </a:p>
        </p:txBody>
      </p:sp>
      <p:sp>
        <p:nvSpPr>
          <p:cNvPr id="18" name="Text 11"/>
          <p:cNvSpPr txBox="1"/>
          <p:nvPr/>
        </p:nvSpPr>
        <p:spPr>
          <a:xfrm>
            <a:off x="1429207" y="4602175"/>
            <a:ext cx="3238805" cy="886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B3A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open speech corpus exists for Azerbaijani — a rule-based model bridges that gap.</a:t>
            </a:r>
            <a:endParaRPr lang="en-US" sz="1500" dirty="0"/>
          </a:p>
        </p:txBody>
      </p:sp>
      <p:sp>
        <p:nvSpPr>
          <p:cNvPr id="19" name="Text 12"/>
          <p:cNvSpPr txBox="1"/>
          <p:nvPr/>
        </p:nvSpPr>
        <p:spPr>
          <a:xfrm>
            <a:off x="5429707" y="3333902"/>
            <a:ext cx="3238805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25" dirty="0">
                <a:solidFill>
                  <a:srgbClr val="6A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000" dirty="0"/>
          </a:p>
        </p:txBody>
      </p:sp>
      <p:sp>
        <p:nvSpPr>
          <p:cNvPr id="20" name="Text 13"/>
          <p:cNvSpPr txBox="1"/>
          <p:nvPr/>
        </p:nvSpPr>
        <p:spPr>
          <a:xfrm>
            <a:off x="5429707" y="3629254"/>
            <a:ext cx="3238805" cy="381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0B2A4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Transparency</a:t>
            </a:r>
            <a:endParaRPr lang="en-US" sz="2500" dirty="0"/>
          </a:p>
        </p:txBody>
      </p:sp>
      <p:sp>
        <p:nvSpPr>
          <p:cNvPr id="21" name="Text 14"/>
          <p:cNvSpPr txBox="1"/>
          <p:nvPr/>
        </p:nvSpPr>
        <p:spPr>
          <a:xfrm>
            <a:off x="5429707" y="4230014"/>
            <a:ext cx="3238805" cy="886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B3A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output is tied to a specific rule — never a black box. Errors are traceable and fixable.</a:t>
            </a:r>
            <a:endParaRPr lang="en-US" sz="1500" dirty="0"/>
          </a:p>
        </p:txBody>
      </p:sp>
      <p:sp>
        <p:nvSpPr>
          <p:cNvPr id="22" name="Text 15"/>
          <p:cNvSpPr txBox="1"/>
          <p:nvPr/>
        </p:nvSpPr>
        <p:spPr>
          <a:xfrm>
            <a:off x="9430207" y="3333902"/>
            <a:ext cx="3238805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25" dirty="0">
                <a:solidFill>
                  <a:srgbClr val="6A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000" dirty="0"/>
          </a:p>
        </p:txBody>
      </p:sp>
      <p:sp>
        <p:nvSpPr>
          <p:cNvPr id="23" name="Text 16"/>
          <p:cNvSpPr txBox="1"/>
          <p:nvPr/>
        </p:nvSpPr>
        <p:spPr>
          <a:xfrm>
            <a:off x="9430207" y="3629254"/>
            <a:ext cx="3238805" cy="7525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0B2A4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Low compute footprint</a:t>
            </a:r>
            <a:endParaRPr lang="en-US" sz="2500" dirty="0"/>
          </a:p>
        </p:txBody>
      </p:sp>
      <p:sp>
        <p:nvSpPr>
          <p:cNvPr id="24" name="Text 17"/>
          <p:cNvSpPr txBox="1"/>
          <p:nvPr/>
        </p:nvSpPr>
        <p:spPr>
          <a:xfrm>
            <a:off x="9430207" y="4602175"/>
            <a:ext cx="3238805" cy="886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B3A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GPU required; runs in real time on standard CPUs and is suitable for mobile devices.</a:t>
            </a:r>
            <a:endParaRPr lang="en-US" sz="1500" dirty="0"/>
          </a:p>
        </p:txBody>
      </p:sp>
      <p:sp>
        <p:nvSpPr>
          <p:cNvPr id="25" name="Text 18"/>
          <p:cNvSpPr txBox="1"/>
          <p:nvPr/>
        </p:nvSpPr>
        <p:spPr>
          <a:xfrm>
            <a:off x="13430707" y="3333902"/>
            <a:ext cx="3429000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25" dirty="0">
                <a:solidFill>
                  <a:srgbClr val="C9A2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1000" dirty="0"/>
          </a:p>
        </p:txBody>
      </p:sp>
      <p:sp>
        <p:nvSpPr>
          <p:cNvPr id="26" name="Text 19"/>
          <p:cNvSpPr txBox="1"/>
          <p:nvPr/>
        </p:nvSpPr>
        <p:spPr>
          <a:xfrm>
            <a:off x="13430707" y="3629254"/>
            <a:ext cx="3429000" cy="7525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FFFFFF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Linguistic foundation</a:t>
            </a:r>
            <a:endParaRPr lang="en-US" sz="2500" dirty="0"/>
          </a:p>
        </p:txBody>
      </p:sp>
      <p:sp>
        <p:nvSpPr>
          <p:cNvPr id="27" name="Text 20"/>
          <p:cNvSpPr txBox="1"/>
          <p:nvPr/>
        </p:nvSpPr>
        <p:spPr>
          <a:xfrm>
            <a:off x="13430707" y="4602175"/>
            <a:ext cx="3429000" cy="886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7D3E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rule base bootstraps future neural systems and can be used to automate corpus labelling.</a:t>
            </a:r>
            <a:endParaRPr lang="en-US" sz="1500" dirty="0"/>
          </a:p>
        </p:txBody>
      </p:sp>
      <p:sp>
        <p:nvSpPr>
          <p:cNvPr id="28" name="Text 21"/>
          <p:cNvSpPr txBox="1"/>
          <p:nvPr/>
        </p:nvSpPr>
        <p:spPr>
          <a:xfrm>
            <a:off x="1143000" y="9286646"/>
            <a:ext cx="16002000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00" i="1" dirty="0">
                <a:solidFill>
                  <a:srgbClr val="2B3A4D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For low-resource languages, rule-based TTS is not a “dead technology” — it is an interpretable baseline.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4" name="Shape 2"/>
          <p:cNvSpPr/>
          <p:nvPr/>
        </p:nvSpPr>
        <p:spPr>
          <a:xfrm>
            <a:off x="1143000" y="2857500"/>
            <a:ext cx="3429000" cy="2286000"/>
          </a:xfrm>
          <a:prstGeom prst="rect">
            <a:avLst/>
          </a:prstGeom>
          <a:solidFill>
            <a:srgbClr val="0B2A4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5" name="Shape 3"/>
          <p:cNvSpPr/>
          <p:nvPr/>
        </p:nvSpPr>
        <p:spPr>
          <a:xfrm>
            <a:off x="4762195" y="2857500"/>
            <a:ext cx="3486607" cy="228600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lstStyle/>
          <a:p>
            <a:endParaRPr lang="en-AZ"/>
          </a:p>
        </p:txBody>
      </p:sp>
      <p:sp>
        <p:nvSpPr>
          <p:cNvPr id="6" name="Shape 4"/>
          <p:cNvSpPr/>
          <p:nvPr/>
        </p:nvSpPr>
        <p:spPr>
          <a:xfrm>
            <a:off x="4762195" y="2857500"/>
            <a:ext cx="57607" cy="2286000"/>
          </a:xfrm>
          <a:prstGeom prst="rect">
            <a:avLst/>
          </a:prstGeom>
          <a:solidFill>
            <a:srgbClr val="1F5AA6"/>
          </a:solidFill>
          <a:ln w="12700">
            <a:solidFill>
              <a:srgbClr val="1F5AA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7" name="Shape 5"/>
          <p:cNvSpPr/>
          <p:nvPr/>
        </p:nvSpPr>
        <p:spPr>
          <a:xfrm>
            <a:off x="8382305" y="2857500"/>
            <a:ext cx="3486607" cy="228600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lstStyle/>
          <a:p>
            <a:endParaRPr lang="en-AZ"/>
          </a:p>
        </p:txBody>
      </p:sp>
      <p:sp>
        <p:nvSpPr>
          <p:cNvPr id="8" name="Shape 6"/>
          <p:cNvSpPr/>
          <p:nvPr/>
        </p:nvSpPr>
        <p:spPr>
          <a:xfrm>
            <a:off x="8382305" y="2857500"/>
            <a:ext cx="57607" cy="2286000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9" name="Shape 7"/>
          <p:cNvSpPr/>
          <p:nvPr/>
        </p:nvSpPr>
        <p:spPr>
          <a:xfrm>
            <a:off x="12001500" y="2857500"/>
            <a:ext cx="5143500" cy="2286000"/>
          </a:xfrm>
          <a:prstGeom prst="rect">
            <a:avLst/>
          </a:prstGeom>
          <a:solidFill>
            <a:srgbClr val="F4F6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10" name="Shape 8"/>
          <p:cNvSpPr/>
          <p:nvPr/>
        </p:nvSpPr>
        <p:spPr>
          <a:xfrm>
            <a:off x="1143000" y="6572707"/>
            <a:ext cx="3829507" cy="2686507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11" name="Shape 9"/>
          <p:cNvSpPr/>
          <p:nvPr/>
        </p:nvSpPr>
        <p:spPr>
          <a:xfrm>
            <a:off x="5143500" y="6572707"/>
            <a:ext cx="3829507" cy="2686507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12" name="Shape 10"/>
          <p:cNvSpPr/>
          <p:nvPr/>
        </p:nvSpPr>
        <p:spPr>
          <a:xfrm>
            <a:off x="9144000" y="6572707"/>
            <a:ext cx="3829507" cy="2686507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13" name="Shape 11"/>
          <p:cNvSpPr/>
          <p:nvPr/>
        </p:nvSpPr>
        <p:spPr>
          <a:xfrm>
            <a:off x="13144500" y="6572707"/>
            <a:ext cx="4019702" cy="2686507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pic>
        <p:nvPicPr>
          <p:cNvPr id="14" name="Image 0" descr="gen-dedup-cfc304a6ff6b7471c886aeceb308770f.png"/>
          <p:cNvPicPr>
            <a:picLocks noChangeAspect="1"/>
          </p:cNvPicPr>
          <p:nvPr/>
        </p:nvPicPr>
        <p:blipFill>
          <a:blip r:embed="rId3"/>
          <a:srcRect t="-420" b="-420"/>
          <a:stretch/>
        </p:blipFill>
        <p:spPr>
          <a:xfrm>
            <a:off x="1143000" y="761695"/>
            <a:ext cx="761695" cy="38405"/>
          </a:xfrm>
          <a:prstGeom prst="rect">
            <a:avLst/>
          </a:prstGeom>
        </p:spPr>
      </p:pic>
      <p:pic>
        <p:nvPicPr>
          <p:cNvPr id="15" name="Image 1" descr="gen-dedup-46f4bd2834ede443b0a4350605eb85f0.png"/>
          <p:cNvPicPr>
            <a:picLocks noChangeAspect="1"/>
          </p:cNvPicPr>
          <p:nvPr/>
        </p:nvPicPr>
        <p:blipFill>
          <a:blip r:embed="rId4"/>
          <a:srcRect l="-385" r="-385"/>
          <a:stretch/>
        </p:blipFill>
        <p:spPr>
          <a:xfrm>
            <a:off x="1143000" y="6191402"/>
            <a:ext cx="761695" cy="28346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143000" y="952805"/>
            <a:ext cx="571500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1F5A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· LANGUAGE FEATURES</a:t>
            </a:r>
            <a:endParaRPr lang="en-US" sz="1300" dirty="0"/>
          </a:p>
        </p:txBody>
      </p:sp>
      <p:sp>
        <p:nvSpPr>
          <p:cNvPr id="17" name="Text 13"/>
          <p:cNvSpPr txBox="1"/>
          <p:nvPr/>
        </p:nvSpPr>
        <p:spPr>
          <a:xfrm>
            <a:off x="1143000" y="1429207"/>
            <a:ext cx="14287500" cy="685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100" b="1" kern="0" spc="-75" dirty="0">
                <a:solidFill>
                  <a:srgbClr val="0B2A4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Phonetic base of Azerbaijani</a:t>
            </a:r>
            <a:endParaRPr lang="en-US" sz="5100" dirty="0"/>
          </a:p>
        </p:txBody>
      </p:sp>
      <p:sp>
        <p:nvSpPr>
          <p:cNvPr id="18" name="Text 14"/>
          <p:cNvSpPr txBox="1"/>
          <p:nvPr/>
        </p:nvSpPr>
        <p:spPr>
          <a:xfrm>
            <a:off x="16573500" y="9715500"/>
            <a:ext cx="762610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000" kern="0" spc="150" dirty="0">
                <a:solidFill>
                  <a:srgbClr val="6A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 / 16</a:t>
            </a:r>
            <a:endParaRPr lang="en-US" sz="1000" dirty="0"/>
          </a:p>
        </p:txBody>
      </p:sp>
      <p:sp>
        <p:nvSpPr>
          <p:cNvPr id="19" name="Text 15"/>
          <p:cNvSpPr txBox="1"/>
          <p:nvPr/>
        </p:nvSpPr>
        <p:spPr>
          <a:xfrm>
            <a:off x="1524305" y="3143707"/>
            <a:ext cx="2857500" cy="1143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0" b="1" dirty="0">
                <a:solidFill>
                  <a:srgbClr val="C9A227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32</a:t>
            </a:r>
            <a:endParaRPr lang="en-US" sz="9000" dirty="0"/>
          </a:p>
        </p:txBody>
      </p:sp>
      <p:sp>
        <p:nvSpPr>
          <p:cNvPr id="20" name="Text 16"/>
          <p:cNvSpPr txBox="1"/>
          <p:nvPr/>
        </p:nvSpPr>
        <p:spPr>
          <a:xfrm>
            <a:off x="1524305" y="4419295"/>
            <a:ext cx="2857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letters</a:t>
            </a:r>
            <a:endParaRPr lang="en-US" sz="1600" dirty="0"/>
          </a:p>
        </p:txBody>
      </p:sp>
      <p:sp>
        <p:nvSpPr>
          <p:cNvPr id="21" name="Text 17"/>
          <p:cNvSpPr txBox="1"/>
          <p:nvPr/>
        </p:nvSpPr>
        <p:spPr>
          <a:xfrm>
            <a:off x="1524305" y="4705502"/>
            <a:ext cx="285750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FB4D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Latin-based alphabet</a:t>
            </a:r>
            <a:endParaRPr lang="en-US" sz="1300" dirty="0"/>
          </a:p>
        </p:txBody>
      </p:sp>
      <p:sp>
        <p:nvSpPr>
          <p:cNvPr id="22" name="Text 18"/>
          <p:cNvSpPr txBox="1"/>
          <p:nvPr/>
        </p:nvSpPr>
        <p:spPr>
          <a:xfrm>
            <a:off x="5143500" y="3143707"/>
            <a:ext cx="2857500" cy="1143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0" b="1" dirty="0">
                <a:solidFill>
                  <a:srgbClr val="0B2A4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9</a:t>
            </a:r>
            <a:endParaRPr lang="en-US" sz="9000" dirty="0"/>
          </a:p>
        </p:txBody>
      </p:sp>
      <p:sp>
        <p:nvSpPr>
          <p:cNvPr id="23" name="Text 19"/>
          <p:cNvSpPr txBox="1"/>
          <p:nvPr/>
        </p:nvSpPr>
        <p:spPr>
          <a:xfrm>
            <a:off x="5143500" y="4419295"/>
            <a:ext cx="2857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0E17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vowels</a:t>
            </a:r>
            <a:endParaRPr lang="en-US" sz="1600" dirty="0"/>
          </a:p>
        </p:txBody>
      </p:sp>
      <p:sp>
        <p:nvSpPr>
          <p:cNvPr id="24" name="Text 20"/>
          <p:cNvSpPr txBox="1"/>
          <p:nvPr/>
        </p:nvSpPr>
        <p:spPr>
          <a:xfrm>
            <a:off x="5143500" y="4705502"/>
            <a:ext cx="285750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6A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a, e, ə, i, ı, o, ö, u, ü</a:t>
            </a:r>
            <a:endParaRPr lang="en-US" sz="1300" dirty="0"/>
          </a:p>
        </p:txBody>
      </p:sp>
      <p:sp>
        <p:nvSpPr>
          <p:cNvPr id="25" name="Text 21"/>
          <p:cNvSpPr txBox="1"/>
          <p:nvPr/>
        </p:nvSpPr>
        <p:spPr>
          <a:xfrm>
            <a:off x="8762695" y="3143707"/>
            <a:ext cx="2857500" cy="1143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0" b="1" dirty="0">
                <a:solidFill>
                  <a:srgbClr val="0B2A4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23</a:t>
            </a:r>
            <a:endParaRPr lang="en-US" sz="9000" dirty="0"/>
          </a:p>
        </p:txBody>
      </p:sp>
      <p:sp>
        <p:nvSpPr>
          <p:cNvPr id="26" name="Text 22"/>
          <p:cNvSpPr txBox="1"/>
          <p:nvPr/>
        </p:nvSpPr>
        <p:spPr>
          <a:xfrm>
            <a:off x="8762695" y="4419295"/>
            <a:ext cx="2857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0E17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consonants</a:t>
            </a:r>
            <a:endParaRPr lang="en-US" sz="1600" dirty="0"/>
          </a:p>
        </p:txBody>
      </p:sp>
      <p:sp>
        <p:nvSpPr>
          <p:cNvPr id="27" name="Text 23"/>
          <p:cNvSpPr txBox="1"/>
          <p:nvPr/>
        </p:nvSpPr>
        <p:spPr>
          <a:xfrm>
            <a:off x="8762695" y="4705502"/>
            <a:ext cx="285750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6A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including ç, ş, ğ, x, q</a:t>
            </a:r>
            <a:endParaRPr lang="en-US" sz="1300" dirty="0"/>
          </a:p>
        </p:txBody>
      </p:sp>
      <p:sp>
        <p:nvSpPr>
          <p:cNvPr id="28" name="Text 24"/>
          <p:cNvSpPr txBox="1"/>
          <p:nvPr/>
        </p:nvSpPr>
        <p:spPr>
          <a:xfrm>
            <a:off x="12382805" y="3143707"/>
            <a:ext cx="4572000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25" dirty="0">
                <a:solidFill>
                  <a:srgbClr val="6A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SYLLABLE STRUCTURE</a:t>
            </a:r>
            <a:endParaRPr lang="en-US" sz="1000" dirty="0"/>
          </a:p>
        </p:txBody>
      </p:sp>
      <p:sp>
        <p:nvSpPr>
          <p:cNvPr id="29" name="Text 25"/>
          <p:cNvSpPr txBox="1"/>
          <p:nvPr/>
        </p:nvSpPr>
        <p:spPr>
          <a:xfrm>
            <a:off x="12382805" y="3457346"/>
            <a:ext cx="4572000" cy="6007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600" b="1" kern="0" spc="150" dirty="0">
                <a:solidFill>
                  <a:srgbClr val="0B2A4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(C) V (C) (C)</a:t>
            </a:r>
            <a:endParaRPr lang="en-US" sz="3600" dirty="0"/>
          </a:p>
        </p:txBody>
      </p:sp>
      <p:sp>
        <p:nvSpPr>
          <p:cNvPr id="30" name="Text 26"/>
          <p:cNvSpPr txBox="1"/>
          <p:nvPr/>
        </p:nvSpPr>
        <p:spPr>
          <a:xfrm>
            <a:off x="12382805" y="4190695"/>
            <a:ext cx="4572000" cy="7525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2B3A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Onset-maximisation: during syllable splitting, consonants attach to the following onset whenever possible.</a:t>
            </a:r>
            <a:endParaRPr lang="en-US" sz="1300" dirty="0"/>
          </a:p>
        </p:txBody>
      </p:sp>
      <p:sp>
        <p:nvSpPr>
          <p:cNvPr id="31" name="Text 27"/>
          <p:cNvSpPr txBox="1"/>
          <p:nvPr/>
        </p:nvSpPr>
        <p:spPr>
          <a:xfrm>
            <a:off x="1143000" y="5810098"/>
            <a:ext cx="16002000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25" dirty="0">
                <a:solidFill>
                  <a:srgbClr val="1F5A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GRAPHEME → PHONEME: SELECTED ALLOPHONIC RULES</a:t>
            </a:r>
            <a:endParaRPr lang="en-US" sz="1000" dirty="0"/>
          </a:p>
        </p:txBody>
      </p:sp>
      <p:sp>
        <p:nvSpPr>
          <p:cNvPr id="32" name="Text 28"/>
          <p:cNvSpPr txBox="1"/>
          <p:nvPr/>
        </p:nvSpPr>
        <p:spPr>
          <a:xfrm>
            <a:off x="1429207" y="6762902"/>
            <a:ext cx="3238805" cy="5532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0B2A4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/k/ /g/</a:t>
            </a:r>
            <a:endParaRPr lang="en-US" sz="3100" dirty="0"/>
          </a:p>
        </p:txBody>
      </p:sp>
      <p:sp>
        <p:nvSpPr>
          <p:cNvPr id="33" name="Text 29"/>
          <p:cNvSpPr txBox="1"/>
          <p:nvPr/>
        </p:nvSpPr>
        <p:spPr>
          <a:xfrm>
            <a:off x="1429207" y="7410298"/>
            <a:ext cx="32388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E17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Palatalisation</a:t>
            </a:r>
            <a:endParaRPr lang="en-US" sz="1500" dirty="0"/>
          </a:p>
        </p:txBody>
      </p:sp>
      <p:sp>
        <p:nvSpPr>
          <p:cNvPr id="34" name="Text 30"/>
          <p:cNvSpPr txBox="1"/>
          <p:nvPr/>
        </p:nvSpPr>
        <p:spPr>
          <a:xfrm>
            <a:off x="1429207" y="7733995"/>
            <a:ext cx="3238805" cy="5148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2B3A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Softens near front vowels (e, ə, i, ö, ü): </a:t>
            </a:r>
            <a:r>
              <a:rPr lang="en-US" sz="1300" dirty="0">
                <a:solidFill>
                  <a:srgbClr val="2B3A4D"/>
                </a:solidFill>
                <a:latin typeface="var(--mono)" pitchFamily="34" charset="0"/>
                <a:ea typeface="var(--mono)" pitchFamily="34" charset="-122"/>
                <a:cs typeface="var(--mono)" pitchFamily="34" charset="-120"/>
              </a:rPr>
              <a:t>kim → [cim]</a:t>
            </a:r>
            <a:endParaRPr lang="en-US" sz="1300" dirty="0"/>
          </a:p>
        </p:txBody>
      </p:sp>
      <p:sp>
        <p:nvSpPr>
          <p:cNvPr id="35" name="Text 31"/>
          <p:cNvSpPr txBox="1"/>
          <p:nvPr/>
        </p:nvSpPr>
        <p:spPr>
          <a:xfrm>
            <a:off x="5429707" y="6762902"/>
            <a:ext cx="3238805" cy="5532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0B2A4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/ğ/</a:t>
            </a:r>
            <a:endParaRPr lang="en-US" sz="3100" dirty="0"/>
          </a:p>
        </p:txBody>
      </p:sp>
      <p:sp>
        <p:nvSpPr>
          <p:cNvPr id="36" name="Text 32"/>
          <p:cNvSpPr txBox="1"/>
          <p:nvPr/>
        </p:nvSpPr>
        <p:spPr>
          <a:xfrm>
            <a:off x="5429707" y="7410298"/>
            <a:ext cx="32388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E17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Allophonic variation</a:t>
            </a:r>
            <a:endParaRPr lang="en-US" sz="1500" dirty="0"/>
          </a:p>
        </p:txBody>
      </p:sp>
      <p:sp>
        <p:nvSpPr>
          <p:cNvPr id="37" name="Text 33"/>
          <p:cNvSpPr txBox="1"/>
          <p:nvPr/>
        </p:nvSpPr>
        <p:spPr>
          <a:xfrm>
            <a:off x="5429707" y="7733995"/>
            <a:ext cx="3238805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2B3A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Realised as a fricative or as vowel-lengthening depending on position: </a:t>
            </a:r>
            <a:r>
              <a:rPr lang="en-US" sz="1300" dirty="0">
                <a:solidFill>
                  <a:srgbClr val="2B3A4D"/>
                </a:solidFill>
                <a:latin typeface="var(--mono)" pitchFamily="34" charset="0"/>
                <a:ea typeface="var(--mono)" pitchFamily="34" charset="-122"/>
                <a:cs typeface="var(--mono)" pitchFamily="34" charset="-120"/>
              </a:rPr>
              <a:t>dağ → [daː]</a:t>
            </a:r>
            <a:endParaRPr lang="en-US" sz="1300" dirty="0"/>
          </a:p>
        </p:txBody>
      </p:sp>
      <p:sp>
        <p:nvSpPr>
          <p:cNvPr id="38" name="Text 34"/>
          <p:cNvSpPr txBox="1"/>
          <p:nvPr/>
        </p:nvSpPr>
        <p:spPr>
          <a:xfrm>
            <a:off x="9430207" y="6762902"/>
            <a:ext cx="3238805" cy="5532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0B2A4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Final obstr.</a:t>
            </a:r>
            <a:endParaRPr lang="en-US" sz="3100" dirty="0"/>
          </a:p>
        </p:txBody>
      </p:sp>
      <p:sp>
        <p:nvSpPr>
          <p:cNvPr id="39" name="Text 35"/>
          <p:cNvSpPr txBox="1"/>
          <p:nvPr/>
        </p:nvSpPr>
        <p:spPr>
          <a:xfrm>
            <a:off x="9430207" y="7410298"/>
            <a:ext cx="32388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E17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Devoicing</a:t>
            </a:r>
            <a:endParaRPr lang="en-US" sz="1500" dirty="0"/>
          </a:p>
        </p:txBody>
      </p:sp>
      <p:sp>
        <p:nvSpPr>
          <p:cNvPr id="40" name="Text 36"/>
          <p:cNvSpPr txBox="1"/>
          <p:nvPr/>
        </p:nvSpPr>
        <p:spPr>
          <a:xfrm>
            <a:off x="9430207" y="7733995"/>
            <a:ext cx="3238805" cy="5148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2B3A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Word-finally /b/→[p], /d/→[t], /g/→[k]: </a:t>
            </a:r>
            <a:r>
              <a:rPr lang="en-US" sz="1300" dirty="0">
                <a:solidFill>
                  <a:srgbClr val="2B3A4D"/>
                </a:solidFill>
                <a:latin typeface="var(--mono)" pitchFamily="34" charset="0"/>
                <a:ea typeface="var(--mono)" pitchFamily="34" charset="-122"/>
                <a:cs typeface="var(--mono)" pitchFamily="34" charset="-120"/>
              </a:rPr>
              <a:t>kitab → [kitap]</a:t>
            </a:r>
            <a:endParaRPr lang="en-US" sz="1300" dirty="0"/>
          </a:p>
        </p:txBody>
      </p:sp>
      <p:sp>
        <p:nvSpPr>
          <p:cNvPr id="41" name="Text 37"/>
          <p:cNvSpPr txBox="1"/>
          <p:nvPr/>
        </p:nvSpPr>
        <p:spPr>
          <a:xfrm>
            <a:off x="13430707" y="6762902"/>
            <a:ext cx="3429000" cy="5532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0B2A4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/n/ → /ŋ/</a:t>
            </a:r>
            <a:endParaRPr lang="en-US" sz="3100" dirty="0"/>
          </a:p>
        </p:txBody>
      </p:sp>
      <p:sp>
        <p:nvSpPr>
          <p:cNvPr id="42" name="Text 38"/>
          <p:cNvSpPr txBox="1"/>
          <p:nvPr/>
        </p:nvSpPr>
        <p:spPr>
          <a:xfrm>
            <a:off x="13430707" y="7410298"/>
            <a:ext cx="3429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E17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Nasal assimilation</a:t>
            </a:r>
            <a:endParaRPr lang="en-US" sz="1500" dirty="0"/>
          </a:p>
        </p:txBody>
      </p:sp>
      <p:sp>
        <p:nvSpPr>
          <p:cNvPr id="43" name="Text 39"/>
          <p:cNvSpPr txBox="1"/>
          <p:nvPr/>
        </p:nvSpPr>
        <p:spPr>
          <a:xfrm>
            <a:off x="13430707" y="7733995"/>
            <a:ext cx="3429000" cy="5148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2B3A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/n/ velarises before velars: </a:t>
            </a:r>
            <a:r>
              <a:rPr lang="en-US" sz="1300" dirty="0">
                <a:solidFill>
                  <a:srgbClr val="2B3A4D"/>
                </a:solidFill>
                <a:latin typeface="var(--mono)" pitchFamily="34" charset="0"/>
                <a:ea typeface="var(--mono)" pitchFamily="34" charset="-122"/>
                <a:cs typeface="var(--mono)" pitchFamily="34" charset="-120"/>
              </a:rPr>
              <a:t>manqal → [maŋgal]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3" name="Shape 1"/>
          <p:cNvSpPr/>
          <p:nvPr/>
        </p:nvSpPr>
        <p:spPr>
          <a:xfrm>
            <a:off x="0" y="30480"/>
            <a:ext cx="18288000" cy="1028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4" name="Shape 2"/>
          <p:cNvSpPr/>
          <p:nvPr/>
        </p:nvSpPr>
        <p:spPr>
          <a:xfrm>
            <a:off x="9525305" y="2762402"/>
            <a:ext cx="7619695" cy="2857500"/>
          </a:xfrm>
          <a:prstGeom prst="rect">
            <a:avLst/>
          </a:prstGeom>
          <a:solidFill>
            <a:srgbClr val="F4F6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5" name="Shape 3"/>
          <p:cNvSpPr/>
          <p:nvPr/>
        </p:nvSpPr>
        <p:spPr>
          <a:xfrm>
            <a:off x="1143000" y="6858000"/>
            <a:ext cx="3829507" cy="2352751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6" name="Shape 4"/>
          <p:cNvSpPr/>
          <p:nvPr/>
        </p:nvSpPr>
        <p:spPr>
          <a:xfrm>
            <a:off x="1143000" y="6858000"/>
            <a:ext cx="3829507" cy="57607"/>
          </a:xfrm>
          <a:prstGeom prst="rect">
            <a:avLst/>
          </a:prstGeom>
          <a:solidFill>
            <a:srgbClr val="0B2A4A"/>
          </a:solidFill>
          <a:ln w="12700">
            <a:solidFill>
              <a:srgbClr val="0B2A4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7" name="Shape 5"/>
          <p:cNvSpPr/>
          <p:nvPr/>
        </p:nvSpPr>
        <p:spPr>
          <a:xfrm>
            <a:off x="5143500" y="6858000"/>
            <a:ext cx="3829507" cy="2352751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8" name="Shape 6"/>
          <p:cNvSpPr/>
          <p:nvPr/>
        </p:nvSpPr>
        <p:spPr>
          <a:xfrm>
            <a:off x="5143500" y="6858000"/>
            <a:ext cx="3829507" cy="57607"/>
          </a:xfrm>
          <a:prstGeom prst="rect">
            <a:avLst/>
          </a:prstGeom>
          <a:solidFill>
            <a:srgbClr val="0B2A4A"/>
          </a:solidFill>
          <a:ln w="12700">
            <a:solidFill>
              <a:srgbClr val="0B2A4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9" name="Shape 7"/>
          <p:cNvSpPr/>
          <p:nvPr/>
        </p:nvSpPr>
        <p:spPr>
          <a:xfrm>
            <a:off x="9144000" y="6858000"/>
            <a:ext cx="3829507" cy="2352751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10" name="Shape 8"/>
          <p:cNvSpPr/>
          <p:nvPr/>
        </p:nvSpPr>
        <p:spPr>
          <a:xfrm>
            <a:off x="9144000" y="6858000"/>
            <a:ext cx="3829507" cy="57607"/>
          </a:xfrm>
          <a:prstGeom prst="rect">
            <a:avLst/>
          </a:prstGeom>
          <a:solidFill>
            <a:srgbClr val="0B2A4A"/>
          </a:solidFill>
          <a:ln w="12700">
            <a:solidFill>
              <a:srgbClr val="0B2A4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11" name="Shape 9"/>
          <p:cNvSpPr/>
          <p:nvPr/>
        </p:nvSpPr>
        <p:spPr>
          <a:xfrm>
            <a:off x="13144500" y="6858000"/>
            <a:ext cx="4019702" cy="2352751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12" name="Shape 10"/>
          <p:cNvSpPr/>
          <p:nvPr/>
        </p:nvSpPr>
        <p:spPr>
          <a:xfrm>
            <a:off x="13144500" y="6858000"/>
            <a:ext cx="4019702" cy="57607"/>
          </a:xfrm>
          <a:prstGeom prst="rect">
            <a:avLst/>
          </a:prstGeom>
          <a:solidFill>
            <a:srgbClr val="0B2A4A"/>
          </a:solidFill>
          <a:ln w="12700">
            <a:solidFill>
              <a:srgbClr val="0B2A4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pic>
        <p:nvPicPr>
          <p:cNvPr id="13" name="Image 0" descr="gen-dedup-cfc304a6ff6b7471c886aeceb308770f.png"/>
          <p:cNvPicPr>
            <a:picLocks noChangeAspect="1"/>
          </p:cNvPicPr>
          <p:nvPr/>
        </p:nvPicPr>
        <p:blipFill>
          <a:blip r:embed="rId3"/>
          <a:srcRect t="-420" b="-420"/>
          <a:stretch/>
        </p:blipFill>
        <p:spPr>
          <a:xfrm>
            <a:off x="1143000" y="761695"/>
            <a:ext cx="761695" cy="38405"/>
          </a:xfrm>
          <a:prstGeom prst="rect">
            <a:avLst/>
          </a:prstGeom>
        </p:spPr>
      </p:pic>
      <p:pic>
        <p:nvPicPr>
          <p:cNvPr id="14" name="Image 1" descr="gen-dedup-46f4bd2834ede443b0a4350605eb85f0.png"/>
          <p:cNvPicPr>
            <a:picLocks noChangeAspect="1"/>
          </p:cNvPicPr>
          <p:nvPr/>
        </p:nvPicPr>
        <p:blipFill>
          <a:blip r:embed="rId4"/>
          <a:srcRect l="-385" r="-385"/>
          <a:stretch/>
        </p:blipFill>
        <p:spPr>
          <a:xfrm>
            <a:off x="1143000" y="6476695"/>
            <a:ext cx="761695" cy="28346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143000" y="952805"/>
            <a:ext cx="571500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1F5A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· LANGUAGE FEATURES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1143000" y="1429207"/>
            <a:ext cx="16274491" cy="685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100" b="1" kern="0" spc="-75" dirty="0">
                <a:solidFill>
                  <a:srgbClr val="0B2A4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Vowel harmony — the engine of Azerbaijani</a:t>
            </a:r>
            <a:endParaRPr lang="en-US" sz="5100" dirty="0"/>
          </a:p>
        </p:txBody>
      </p:sp>
      <p:sp>
        <p:nvSpPr>
          <p:cNvPr id="17" name="Text 13"/>
          <p:cNvSpPr txBox="1"/>
          <p:nvPr/>
        </p:nvSpPr>
        <p:spPr>
          <a:xfrm>
            <a:off x="16573500" y="9715500"/>
            <a:ext cx="762610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000" kern="0" spc="150" dirty="0">
                <a:solidFill>
                  <a:srgbClr val="6A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09 / 16</a:t>
            </a:r>
            <a:endParaRPr lang="en-US" sz="1000" dirty="0"/>
          </a:p>
        </p:txBody>
      </p:sp>
      <p:sp>
        <p:nvSpPr>
          <p:cNvPr id="18" name="Text 14"/>
          <p:cNvSpPr txBox="1"/>
          <p:nvPr/>
        </p:nvSpPr>
        <p:spPr>
          <a:xfrm>
            <a:off x="1143000" y="2762402"/>
            <a:ext cx="8001000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25" dirty="0">
                <a:solidFill>
                  <a:srgbClr val="1F5A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PRINCIPLE</a:t>
            </a:r>
            <a:endParaRPr lang="en-US" sz="1000" dirty="0"/>
          </a:p>
        </p:txBody>
      </p:sp>
      <p:sp>
        <p:nvSpPr>
          <p:cNvPr id="19" name="Text 15"/>
          <p:cNvSpPr txBox="1"/>
          <p:nvPr/>
        </p:nvSpPr>
        <p:spPr>
          <a:xfrm>
            <a:off x="1143000" y="3019349"/>
            <a:ext cx="8001000" cy="8293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B2A4A"/>
                </a:solidFill>
                <a:latin typeface="var(--serif)" pitchFamily="34" charset="0"/>
                <a:ea typeface="var(--serif)" pitchFamily="34" charset="-122"/>
                <a:cs typeface="var(--serif)" pitchFamily="34" charset="-120"/>
              </a:rPr>
              <a:t>The root vowel dictates whether suffix vowels are </a:t>
            </a:r>
            <a:r>
              <a:rPr lang="en-US" sz="2400" b="1" dirty="0">
                <a:solidFill>
                  <a:srgbClr val="0B2A4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front / back</a:t>
            </a:r>
            <a:r>
              <a:rPr lang="en-US" sz="2400" b="1" dirty="0">
                <a:solidFill>
                  <a:srgbClr val="0B2A4A"/>
                </a:solidFill>
                <a:latin typeface="var(--serif)" pitchFamily="34" charset="0"/>
                <a:ea typeface="var(--serif)" pitchFamily="34" charset="-122"/>
                <a:cs typeface="var(--serif)" pitchFamily="34" charset="-120"/>
              </a:rPr>
              <a:t> and </a:t>
            </a:r>
            <a:r>
              <a:rPr lang="en-US" sz="2400" b="1" dirty="0">
                <a:solidFill>
                  <a:srgbClr val="0B2A4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rounded / unrounded</a:t>
            </a:r>
            <a:r>
              <a:rPr lang="en-US" sz="2400" b="1" dirty="0">
                <a:solidFill>
                  <a:srgbClr val="0B2A4A"/>
                </a:solidFill>
                <a:latin typeface="var(--serif)" pitchFamily="34" charset="0"/>
                <a:ea typeface="var(--serif)" pitchFamily="34" charset="-122"/>
                <a:cs typeface="var(--serif)" pitchFamily="34" charset="-120"/>
              </a:rPr>
              <a:t>.</a:t>
            </a:r>
            <a:endParaRPr lang="en-US" sz="2400" dirty="0"/>
          </a:p>
        </p:txBody>
      </p:sp>
      <p:sp>
        <p:nvSpPr>
          <p:cNvPr id="20" name="Text 16"/>
          <p:cNvSpPr txBox="1"/>
          <p:nvPr/>
        </p:nvSpPr>
        <p:spPr>
          <a:xfrm>
            <a:off x="9810598" y="2952598"/>
            <a:ext cx="7049110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25" dirty="0">
                <a:solidFill>
                  <a:srgbClr val="6A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DISTRIBUTION OF THE 9 VOWELS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11239805" y="3305556"/>
            <a:ext cx="2762402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50" dirty="0">
                <a:solidFill>
                  <a:srgbClr val="1F5A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FRONT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14097305" y="3305556"/>
            <a:ext cx="2762402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50" dirty="0">
                <a:solidFill>
                  <a:srgbClr val="1F5A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BACK</a:t>
            </a:r>
            <a:endParaRPr lang="en-US" sz="1000" dirty="0"/>
          </a:p>
        </p:txBody>
      </p:sp>
      <p:sp>
        <p:nvSpPr>
          <p:cNvPr id="23" name="Text 19"/>
          <p:cNvSpPr txBox="1"/>
          <p:nvPr/>
        </p:nvSpPr>
        <p:spPr>
          <a:xfrm>
            <a:off x="9810598" y="3791102"/>
            <a:ext cx="1334110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150" dirty="0">
                <a:solidFill>
                  <a:srgbClr val="6A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UNROUNDED</a:t>
            </a:r>
            <a:endParaRPr lang="en-US" sz="1000" dirty="0"/>
          </a:p>
        </p:txBody>
      </p:sp>
      <p:sp>
        <p:nvSpPr>
          <p:cNvPr id="24" name="Text 20"/>
          <p:cNvSpPr txBox="1"/>
          <p:nvPr/>
        </p:nvSpPr>
        <p:spPr>
          <a:xfrm>
            <a:off x="11239805" y="3562502"/>
            <a:ext cx="2762402" cy="619963"/>
          </a:xfrm>
          <a:prstGeom prst="rect">
            <a:avLst/>
          </a:prstGeom>
          <a:solidFill>
            <a:srgbClr val="FFFFFF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39700" tIns="139700" rIns="139700" bIns="13970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0B2A4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 · ə · i</a:t>
            </a:r>
            <a:endParaRPr lang="en-US" sz="2100" dirty="0"/>
          </a:p>
        </p:txBody>
      </p:sp>
      <p:sp>
        <p:nvSpPr>
          <p:cNvPr id="25" name="Text 21"/>
          <p:cNvSpPr txBox="1"/>
          <p:nvPr/>
        </p:nvSpPr>
        <p:spPr>
          <a:xfrm>
            <a:off x="14097305" y="3562502"/>
            <a:ext cx="2762402" cy="619963"/>
          </a:xfrm>
          <a:prstGeom prst="rect">
            <a:avLst/>
          </a:prstGeom>
          <a:solidFill>
            <a:srgbClr val="FFFFFF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39700" tIns="139700" rIns="139700" bIns="13970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0B2A4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 · ı</a:t>
            </a:r>
            <a:endParaRPr lang="en-US" sz="2100" dirty="0"/>
          </a:p>
        </p:txBody>
      </p:sp>
      <p:sp>
        <p:nvSpPr>
          <p:cNvPr id="26" name="Text 22"/>
          <p:cNvSpPr txBox="1"/>
          <p:nvPr/>
        </p:nvSpPr>
        <p:spPr>
          <a:xfrm>
            <a:off x="9810598" y="4505249"/>
            <a:ext cx="1334110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150" dirty="0">
                <a:solidFill>
                  <a:srgbClr val="6A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ROUNDED</a:t>
            </a:r>
            <a:endParaRPr lang="en-US" sz="1000" dirty="0"/>
          </a:p>
        </p:txBody>
      </p:sp>
      <p:sp>
        <p:nvSpPr>
          <p:cNvPr id="27" name="Text 23"/>
          <p:cNvSpPr txBox="1"/>
          <p:nvPr/>
        </p:nvSpPr>
        <p:spPr>
          <a:xfrm>
            <a:off x="11239805" y="4276649"/>
            <a:ext cx="2762402" cy="619963"/>
          </a:xfrm>
          <a:prstGeom prst="rect">
            <a:avLst/>
          </a:prstGeom>
          <a:solidFill>
            <a:srgbClr val="FFFFFF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39700" tIns="139700" rIns="139700" bIns="13970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0B2A4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ö · ü</a:t>
            </a:r>
            <a:endParaRPr lang="en-US" sz="2100" dirty="0"/>
          </a:p>
        </p:txBody>
      </p:sp>
      <p:sp>
        <p:nvSpPr>
          <p:cNvPr id="28" name="Text 24"/>
          <p:cNvSpPr txBox="1"/>
          <p:nvPr/>
        </p:nvSpPr>
        <p:spPr>
          <a:xfrm>
            <a:off x="14097305" y="4276649"/>
            <a:ext cx="2762402" cy="619963"/>
          </a:xfrm>
          <a:prstGeom prst="rect">
            <a:avLst/>
          </a:prstGeom>
          <a:solidFill>
            <a:srgbClr val="FFFFFF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39700" tIns="139700" rIns="139700" bIns="13970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0B2A4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 · u</a:t>
            </a:r>
            <a:endParaRPr lang="en-US" sz="2100" dirty="0"/>
          </a:p>
        </p:txBody>
      </p:sp>
      <p:sp>
        <p:nvSpPr>
          <p:cNvPr id="29" name="Text 25"/>
          <p:cNvSpPr txBox="1"/>
          <p:nvPr/>
        </p:nvSpPr>
        <p:spPr>
          <a:xfrm>
            <a:off x="1143000" y="6096305"/>
            <a:ext cx="16002000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25" dirty="0">
                <a:solidFill>
                  <a:srgbClr val="1F5A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EXAMPLE — PRESENT-TENSE SUFFIX</a:t>
            </a:r>
            <a:endParaRPr lang="en-US" sz="1000" dirty="0"/>
          </a:p>
        </p:txBody>
      </p:sp>
      <p:sp>
        <p:nvSpPr>
          <p:cNvPr id="30" name="Text 26"/>
          <p:cNvSpPr txBox="1"/>
          <p:nvPr/>
        </p:nvSpPr>
        <p:spPr>
          <a:xfrm>
            <a:off x="1429207" y="7086600"/>
            <a:ext cx="3238805" cy="6007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B2A4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-ır</a:t>
            </a:r>
            <a:endParaRPr lang="en-US" sz="3600" dirty="0"/>
          </a:p>
        </p:txBody>
      </p:sp>
      <p:sp>
        <p:nvSpPr>
          <p:cNvPr id="31" name="Text 27"/>
          <p:cNvSpPr txBox="1"/>
          <p:nvPr/>
        </p:nvSpPr>
        <p:spPr>
          <a:xfrm>
            <a:off x="1429207" y="7724851"/>
            <a:ext cx="3238805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kern="0" spc="150" dirty="0">
                <a:solidFill>
                  <a:srgbClr val="6A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BACK · UNROUNDED</a:t>
            </a:r>
            <a:endParaRPr lang="en-US" sz="1300" dirty="0"/>
          </a:p>
        </p:txBody>
      </p:sp>
      <p:sp>
        <p:nvSpPr>
          <p:cNvPr id="32" name="Text 28"/>
          <p:cNvSpPr txBox="1"/>
          <p:nvPr/>
        </p:nvSpPr>
        <p:spPr>
          <a:xfrm>
            <a:off x="1429207" y="8153705"/>
            <a:ext cx="3238805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100" i="1" dirty="0">
                <a:solidFill>
                  <a:srgbClr val="0E1726"/>
                </a:solidFill>
                <a:latin typeface="var(--serif)" pitchFamily="34" charset="0"/>
                <a:ea typeface="var(--serif)" pitchFamily="34" charset="-122"/>
                <a:cs typeface="var(--serif)" pitchFamily="34" charset="-120"/>
              </a:rPr>
              <a:t>yaz</a:t>
            </a:r>
            <a:r>
              <a:rPr lang="en-US" sz="2100" b="1" i="1" dirty="0">
                <a:solidFill>
                  <a:srgbClr val="C9A227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ır</a:t>
            </a:r>
            <a:endParaRPr lang="en-US" sz="2100" dirty="0"/>
          </a:p>
        </p:txBody>
      </p:sp>
      <p:sp>
        <p:nvSpPr>
          <p:cNvPr id="33" name="Text 29"/>
          <p:cNvSpPr txBox="1"/>
          <p:nvPr/>
        </p:nvSpPr>
        <p:spPr>
          <a:xfrm>
            <a:off x="1429207" y="8591702"/>
            <a:ext cx="3238805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2B3A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root vowel: </a:t>
            </a:r>
            <a:r>
              <a:rPr lang="en-US" sz="1300" b="1" dirty="0">
                <a:solidFill>
                  <a:srgbClr val="0B2A4A"/>
                </a:solidFill>
                <a:latin typeface="var(--mono)" pitchFamily="34" charset="0"/>
                <a:ea typeface="var(--mono)" pitchFamily="34" charset="-122"/>
                <a:cs typeface="var(--mono)" pitchFamily="34" charset="-120"/>
              </a:rPr>
              <a:t>a</a:t>
            </a:r>
            <a:endParaRPr lang="en-US" sz="1300" dirty="0"/>
          </a:p>
        </p:txBody>
      </p:sp>
      <p:sp>
        <p:nvSpPr>
          <p:cNvPr id="34" name="Text 30"/>
          <p:cNvSpPr txBox="1"/>
          <p:nvPr/>
        </p:nvSpPr>
        <p:spPr>
          <a:xfrm>
            <a:off x="5429707" y="7086600"/>
            <a:ext cx="3238805" cy="6007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B2A4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-ir</a:t>
            </a:r>
            <a:endParaRPr lang="en-US" sz="3600" dirty="0"/>
          </a:p>
        </p:txBody>
      </p:sp>
      <p:sp>
        <p:nvSpPr>
          <p:cNvPr id="35" name="Text 31"/>
          <p:cNvSpPr txBox="1"/>
          <p:nvPr/>
        </p:nvSpPr>
        <p:spPr>
          <a:xfrm>
            <a:off x="5429707" y="7724851"/>
            <a:ext cx="3238805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kern="0" spc="150" dirty="0">
                <a:solidFill>
                  <a:srgbClr val="6A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FRONT · UNROUNDED</a:t>
            </a:r>
            <a:endParaRPr lang="en-US" sz="1300" dirty="0"/>
          </a:p>
        </p:txBody>
      </p:sp>
      <p:sp>
        <p:nvSpPr>
          <p:cNvPr id="36" name="Text 32"/>
          <p:cNvSpPr txBox="1"/>
          <p:nvPr/>
        </p:nvSpPr>
        <p:spPr>
          <a:xfrm>
            <a:off x="5429707" y="8153705"/>
            <a:ext cx="3238805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100" i="1" dirty="0">
                <a:solidFill>
                  <a:srgbClr val="0E1726"/>
                </a:solidFill>
                <a:latin typeface="var(--serif)" pitchFamily="34" charset="0"/>
                <a:ea typeface="var(--serif)" pitchFamily="34" charset="-122"/>
                <a:cs typeface="var(--serif)" pitchFamily="34" charset="-120"/>
              </a:rPr>
              <a:t>gəl</a:t>
            </a:r>
            <a:r>
              <a:rPr lang="en-US" sz="2100" b="1" i="1" dirty="0">
                <a:solidFill>
                  <a:srgbClr val="C9A227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ir</a:t>
            </a:r>
            <a:endParaRPr lang="en-US" sz="2100" dirty="0"/>
          </a:p>
        </p:txBody>
      </p:sp>
      <p:sp>
        <p:nvSpPr>
          <p:cNvPr id="37" name="Text 33"/>
          <p:cNvSpPr txBox="1"/>
          <p:nvPr/>
        </p:nvSpPr>
        <p:spPr>
          <a:xfrm>
            <a:off x="5429707" y="8591702"/>
            <a:ext cx="3238805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2B3A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root vowel: </a:t>
            </a:r>
            <a:r>
              <a:rPr lang="en-US" sz="1300" b="1" dirty="0">
                <a:solidFill>
                  <a:srgbClr val="0B2A4A"/>
                </a:solidFill>
                <a:latin typeface="var(--mono)" pitchFamily="34" charset="0"/>
                <a:ea typeface="var(--mono)" pitchFamily="34" charset="-122"/>
                <a:cs typeface="var(--mono)" pitchFamily="34" charset="-120"/>
              </a:rPr>
              <a:t>ə</a:t>
            </a:r>
            <a:endParaRPr lang="en-US" sz="1300" dirty="0"/>
          </a:p>
        </p:txBody>
      </p:sp>
      <p:sp>
        <p:nvSpPr>
          <p:cNvPr id="38" name="Text 34"/>
          <p:cNvSpPr txBox="1"/>
          <p:nvPr/>
        </p:nvSpPr>
        <p:spPr>
          <a:xfrm>
            <a:off x="9430207" y="7086600"/>
            <a:ext cx="3238805" cy="6007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B2A4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-ur</a:t>
            </a:r>
            <a:endParaRPr lang="en-US" sz="3600" dirty="0"/>
          </a:p>
        </p:txBody>
      </p:sp>
      <p:sp>
        <p:nvSpPr>
          <p:cNvPr id="39" name="Text 35"/>
          <p:cNvSpPr txBox="1"/>
          <p:nvPr/>
        </p:nvSpPr>
        <p:spPr>
          <a:xfrm>
            <a:off x="9430207" y="7724851"/>
            <a:ext cx="3238805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kern="0" spc="150" dirty="0">
                <a:solidFill>
                  <a:srgbClr val="6A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BACK · ROUNDED</a:t>
            </a:r>
            <a:endParaRPr lang="en-US" sz="1300" dirty="0"/>
          </a:p>
        </p:txBody>
      </p:sp>
      <p:sp>
        <p:nvSpPr>
          <p:cNvPr id="40" name="Text 36"/>
          <p:cNvSpPr txBox="1"/>
          <p:nvPr/>
        </p:nvSpPr>
        <p:spPr>
          <a:xfrm>
            <a:off x="9430207" y="8153705"/>
            <a:ext cx="3238805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100" i="1" dirty="0">
                <a:solidFill>
                  <a:srgbClr val="0E1726"/>
                </a:solidFill>
                <a:latin typeface="var(--serif)" pitchFamily="34" charset="0"/>
                <a:ea typeface="var(--serif)" pitchFamily="34" charset="-122"/>
                <a:cs typeface="var(--serif)" pitchFamily="34" charset="-120"/>
              </a:rPr>
              <a:t>oxu</a:t>
            </a:r>
            <a:r>
              <a:rPr lang="en-US" sz="2100" b="1" i="1" dirty="0">
                <a:solidFill>
                  <a:srgbClr val="C9A227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yur</a:t>
            </a:r>
            <a:endParaRPr lang="en-US" sz="2100" dirty="0"/>
          </a:p>
        </p:txBody>
      </p:sp>
      <p:sp>
        <p:nvSpPr>
          <p:cNvPr id="41" name="Text 37"/>
          <p:cNvSpPr txBox="1"/>
          <p:nvPr/>
        </p:nvSpPr>
        <p:spPr>
          <a:xfrm>
            <a:off x="9430207" y="8591702"/>
            <a:ext cx="3238805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2B3A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root vowel: </a:t>
            </a:r>
            <a:r>
              <a:rPr lang="en-US" sz="1300" b="1" dirty="0">
                <a:solidFill>
                  <a:srgbClr val="0B2A4A"/>
                </a:solidFill>
                <a:latin typeface="var(--mono)" pitchFamily="34" charset="0"/>
                <a:ea typeface="var(--mono)" pitchFamily="34" charset="-122"/>
                <a:cs typeface="var(--mono)" pitchFamily="34" charset="-120"/>
              </a:rPr>
              <a:t>u</a:t>
            </a:r>
            <a:endParaRPr lang="en-US" sz="1300" dirty="0"/>
          </a:p>
        </p:txBody>
      </p:sp>
      <p:sp>
        <p:nvSpPr>
          <p:cNvPr id="42" name="Text 38"/>
          <p:cNvSpPr txBox="1"/>
          <p:nvPr/>
        </p:nvSpPr>
        <p:spPr>
          <a:xfrm>
            <a:off x="13430707" y="7086600"/>
            <a:ext cx="3429000" cy="6007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B2A4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-ür</a:t>
            </a:r>
            <a:endParaRPr lang="en-US" sz="3600" dirty="0"/>
          </a:p>
        </p:txBody>
      </p:sp>
      <p:sp>
        <p:nvSpPr>
          <p:cNvPr id="43" name="Text 39"/>
          <p:cNvSpPr txBox="1"/>
          <p:nvPr/>
        </p:nvSpPr>
        <p:spPr>
          <a:xfrm>
            <a:off x="13430707" y="7724851"/>
            <a:ext cx="342900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kern="0" spc="150" dirty="0">
                <a:solidFill>
                  <a:srgbClr val="6A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FRONT · ROUNDED</a:t>
            </a:r>
            <a:endParaRPr lang="en-US" sz="1300" dirty="0"/>
          </a:p>
        </p:txBody>
      </p:sp>
      <p:sp>
        <p:nvSpPr>
          <p:cNvPr id="44" name="Text 40"/>
          <p:cNvSpPr txBox="1"/>
          <p:nvPr/>
        </p:nvSpPr>
        <p:spPr>
          <a:xfrm>
            <a:off x="13430707" y="8153705"/>
            <a:ext cx="3429000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100" i="1" dirty="0">
                <a:solidFill>
                  <a:srgbClr val="0E1726"/>
                </a:solidFill>
                <a:latin typeface="var(--serif)" pitchFamily="34" charset="0"/>
                <a:ea typeface="var(--serif)" pitchFamily="34" charset="-122"/>
                <a:cs typeface="var(--serif)" pitchFamily="34" charset="-120"/>
              </a:rPr>
              <a:t>gör</a:t>
            </a:r>
            <a:r>
              <a:rPr lang="en-US" sz="2100" b="1" i="1" dirty="0">
                <a:solidFill>
                  <a:srgbClr val="C9A227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ür</a:t>
            </a:r>
            <a:endParaRPr lang="en-US" sz="2100" dirty="0"/>
          </a:p>
        </p:txBody>
      </p:sp>
      <p:sp>
        <p:nvSpPr>
          <p:cNvPr id="45" name="Text 41"/>
          <p:cNvSpPr txBox="1"/>
          <p:nvPr/>
        </p:nvSpPr>
        <p:spPr>
          <a:xfrm>
            <a:off x="13430707" y="8591702"/>
            <a:ext cx="34290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2B3A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root vowel: </a:t>
            </a:r>
            <a:r>
              <a:rPr lang="en-US" sz="1300" b="1" dirty="0">
                <a:solidFill>
                  <a:srgbClr val="0B2A4A"/>
                </a:solidFill>
                <a:latin typeface="var(--mono)" pitchFamily="34" charset="0"/>
                <a:ea typeface="var(--mono)" pitchFamily="34" charset="-122"/>
                <a:cs typeface="var(--mono)" pitchFamily="34" charset="-120"/>
              </a:rPr>
              <a:t>ö</a:t>
            </a:r>
            <a:endParaRPr lang="en-US" sz="1300" dirty="0"/>
          </a:p>
        </p:txBody>
      </p:sp>
      <p:sp>
        <p:nvSpPr>
          <p:cNvPr id="46" name="Text 42"/>
          <p:cNvSpPr txBox="1"/>
          <p:nvPr/>
        </p:nvSpPr>
        <p:spPr>
          <a:xfrm>
            <a:off x="1143000" y="9430207"/>
            <a:ext cx="16002000" cy="2386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6A7686"/>
                </a:solidFill>
                <a:latin typeface="var(--serif)" pitchFamily="34" charset="0"/>
                <a:ea typeface="var(--serif)" pitchFamily="34" charset="-122"/>
                <a:cs typeface="var(--serif)" pitchFamily="34" charset="-120"/>
              </a:rPr>
              <a:t>These rules are encoded in JSON in </a:t>
            </a:r>
            <a:r>
              <a:rPr lang="en-US" sz="1300" i="1" dirty="0">
                <a:solidFill>
                  <a:srgbClr val="6A7686"/>
                </a:solidFill>
                <a:latin typeface="var(--mono)" pitchFamily="34" charset="0"/>
                <a:ea typeface="var(--mono)" pitchFamily="34" charset="-122"/>
                <a:cs typeface="var(--mono)" pitchFamily="34" charset="-120"/>
              </a:rPr>
              <a:t>g2p_rules.json</a:t>
            </a:r>
            <a:r>
              <a:rPr lang="en-US" sz="1300" i="1" dirty="0">
                <a:solidFill>
                  <a:srgbClr val="6A7686"/>
                </a:solidFill>
                <a:latin typeface="var(--serif)" pitchFamily="34" charset="0"/>
                <a:ea typeface="var(--serif)" pitchFamily="34" charset="-122"/>
                <a:cs typeface="var(--serif)" pitchFamily="34" charset="-120"/>
              </a:rPr>
              <a:t>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pic>
        <p:nvPicPr>
          <p:cNvPr id="4" name="Image 0" descr="gen-dedup-cfc304a6ff6b7471c886aeceb308770f.png"/>
          <p:cNvPicPr>
            <a:picLocks noChangeAspect="1"/>
          </p:cNvPicPr>
          <p:nvPr/>
        </p:nvPicPr>
        <p:blipFill>
          <a:blip r:embed="rId3"/>
          <a:srcRect t="-420" b="-420"/>
          <a:stretch/>
        </p:blipFill>
        <p:spPr>
          <a:xfrm>
            <a:off x="1143000" y="761695"/>
            <a:ext cx="761695" cy="38405"/>
          </a:xfrm>
          <a:prstGeom prst="rect">
            <a:avLst/>
          </a:prstGeom>
        </p:spPr>
      </p:pic>
      <p:pic>
        <p:nvPicPr>
          <p:cNvPr id="5" name="Image 1" descr="gen-dedup-46f4bd2834ede443b0a4350605eb85f0.png"/>
          <p:cNvPicPr>
            <a:picLocks noChangeAspect="1"/>
          </p:cNvPicPr>
          <p:nvPr/>
        </p:nvPicPr>
        <p:blipFill>
          <a:blip r:embed="rId4"/>
          <a:srcRect l="-385" r="-385"/>
          <a:stretch/>
        </p:blipFill>
        <p:spPr>
          <a:xfrm>
            <a:off x="1143000" y="3143707"/>
            <a:ext cx="761695" cy="28346"/>
          </a:xfrm>
          <a:prstGeom prst="rect">
            <a:avLst/>
          </a:prstGeom>
        </p:spPr>
      </p:pic>
      <p:pic>
        <p:nvPicPr>
          <p:cNvPr id="6" name="Image 2" descr="gen-dedup-e262d3ef0eaf8b555abc62c4907669a2.png"/>
          <p:cNvPicPr>
            <a:picLocks noChangeAspect="1"/>
          </p:cNvPicPr>
          <p:nvPr/>
        </p:nvPicPr>
        <p:blipFill>
          <a:blip r:embed="rId5"/>
          <a:srcRect t="-2083" b="-2083"/>
          <a:stretch/>
        </p:blipFill>
        <p:spPr>
          <a:xfrm>
            <a:off x="8667598" y="2762402"/>
            <a:ext cx="9144" cy="6667805"/>
          </a:xfrm>
          <a:prstGeom prst="rect">
            <a:avLst/>
          </a:prstGeom>
        </p:spPr>
      </p:pic>
      <p:pic>
        <p:nvPicPr>
          <p:cNvPr id="7" name="Image 3" descr="gen-dedup-46f4bd2834ede443b0a4350605eb85f0.png"/>
          <p:cNvPicPr>
            <a:picLocks noChangeAspect="1"/>
          </p:cNvPicPr>
          <p:nvPr/>
        </p:nvPicPr>
        <p:blipFill>
          <a:blip r:embed="rId4"/>
          <a:srcRect l="-385" r="-385"/>
          <a:stretch/>
        </p:blipFill>
        <p:spPr>
          <a:xfrm>
            <a:off x="9048902" y="3143707"/>
            <a:ext cx="761695" cy="28346"/>
          </a:xfrm>
          <a:prstGeom prst="rect">
            <a:avLst/>
          </a:prstGeom>
        </p:spPr>
      </p:pic>
      <p:sp>
        <p:nvSpPr>
          <p:cNvPr id="8" name="Text 2"/>
          <p:cNvSpPr txBox="1"/>
          <p:nvPr/>
        </p:nvSpPr>
        <p:spPr>
          <a:xfrm>
            <a:off x="1143000" y="952805"/>
            <a:ext cx="571500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1F5A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· LANGUAGE FEATURES</a:t>
            </a:r>
            <a:endParaRPr lang="en-US" sz="1300" dirty="0"/>
          </a:p>
        </p:txBody>
      </p:sp>
      <p:sp>
        <p:nvSpPr>
          <p:cNvPr id="9" name="Text 3"/>
          <p:cNvSpPr txBox="1"/>
          <p:nvPr/>
        </p:nvSpPr>
        <p:spPr>
          <a:xfrm>
            <a:off x="1143000" y="1429207"/>
            <a:ext cx="14287500" cy="685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100" b="1" kern="0" spc="-75" dirty="0">
                <a:solidFill>
                  <a:srgbClr val="0B2A4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Stress and intonation model</a:t>
            </a:r>
            <a:endParaRPr lang="en-US" sz="5100" dirty="0"/>
          </a:p>
        </p:txBody>
      </p:sp>
      <p:sp>
        <p:nvSpPr>
          <p:cNvPr id="10" name="Text 4"/>
          <p:cNvSpPr txBox="1"/>
          <p:nvPr/>
        </p:nvSpPr>
        <p:spPr>
          <a:xfrm>
            <a:off x="16573500" y="9715500"/>
            <a:ext cx="762610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000" kern="0" spc="150" dirty="0">
                <a:solidFill>
                  <a:srgbClr val="6A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/ 16</a:t>
            </a:r>
            <a:endParaRPr lang="en-US" sz="1000" dirty="0"/>
          </a:p>
        </p:txBody>
      </p:sp>
      <p:sp>
        <p:nvSpPr>
          <p:cNvPr id="11" name="Text 5"/>
          <p:cNvSpPr txBox="1"/>
          <p:nvPr/>
        </p:nvSpPr>
        <p:spPr>
          <a:xfrm>
            <a:off x="1143000" y="2762402"/>
            <a:ext cx="7239305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25" dirty="0">
                <a:solidFill>
                  <a:srgbClr val="1F5A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STRESS — 4-LEVEL PRIORITY HIERARCHY</a:t>
            </a:r>
            <a:endParaRPr lang="en-US" sz="1000" dirty="0"/>
          </a:p>
        </p:txBody>
      </p:sp>
      <p:sp>
        <p:nvSpPr>
          <p:cNvPr id="12" name="Shape 6"/>
          <p:cNvSpPr/>
          <p:nvPr/>
        </p:nvSpPr>
        <p:spPr>
          <a:xfrm>
            <a:off x="1143000" y="4381805"/>
            <a:ext cx="7239305" cy="9144"/>
          </a:xfrm>
          <a:prstGeom prst="rect">
            <a:avLst/>
          </a:prstGeom>
          <a:solidFill>
            <a:srgbClr val="D8DEE6"/>
          </a:solidFill>
          <a:ln w="12700">
            <a:solidFill>
              <a:srgbClr val="D8DEE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13" name="Text 7"/>
          <p:cNvSpPr txBox="1"/>
          <p:nvPr/>
        </p:nvSpPr>
        <p:spPr>
          <a:xfrm>
            <a:off x="1790395" y="3696005"/>
            <a:ext cx="5639105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B2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Negation suffix (-ma / -mə)</a:t>
            </a:r>
            <a:endParaRPr lang="en-US" sz="1600" dirty="0"/>
          </a:p>
        </p:txBody>
      </p:sp>
      <p:sp>
        <p:nvSpPr>
          <p:cNvPr id="14" name="Text 8"/>
          <p:cNvSpPr txBox="1"/>
          <p:nvPr/>
        </p:nvSpPr>
        <p:spPr>
          <a:xfrm>
            <a:off x="1790395" y="3981298"/>
            <a:ext cx="63249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2B3A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Stress shifts to the syllable before negation: </a:t>
            </a:r>
            <a:r>
              <a:rPr lang="en-US" sz="1300" dirty="0">
                <a:solidFill>
                  <a:srgbClr val="2B3A4D"/>
                </a:solidFill>
                <a:latin typeface="var(--mono)" pitchFamily="34" charset="0"/>
                <a:ea typeface="var(--mono)" pitchFamily="34" charset="-122"/>
                <a:cs typeface="var(--mono)" pitchFamily="34" charset="-120"/>
              </a:rPr>
              <a:t>gə‑lir → gə‑lir‑mə‑di</a:t>
            </a:r>
            <a:endParaRPr lang="en-US" sz="1300" dirty="0"/>
          </a:p>
        </p:txBody>
      </p:sp>
      <p:sp>
        <p:nvSpPr>
          <p:cNvPr id="15" name="Shape 9"/>
          <p:cNvSpPr/>
          <p:nvPr/>
        </p:nvSpPr>
        <p:spPr>
          <a:xfrm>
            <a:off x="1143000" y="5248656"/>
            <a:ext cx="7239305" cy="9144"/>
          </a:xfrm>
          <a:prstGeom prst="rect">
            <a:avLst/>
          </a:prstGeom>
          <a:solidFill>
            <a:srgbClr val="D8DEE6"/>
          </a:solidFill>
          <a:ln w="12700">
            <a:solidFill>
              <a:srgbClr val="D8DEE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16" name="Text 10"/>
          <p:cNvSpPr txBox="1"/>
          <p:nvPr/>
        </p:nvSpPr>
        <p:spPr>
          <a:xfrm>
            <a:off x="1790395" y="4562856"/>
            <a:ext cx="36576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B2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Clitics and function words</a:t>
            </a:r>
            <a:endParaRPr lang="en-US" sz="1600" dirty="0"/>
          </a:p>
        </p:txBody>
      </p:sp>
      <p:sp>
        <p:nvSpPr>
          <p:cNvPr id="17" name="Text 11"/>
          <p:cNvSpPr txBox="1"/>
          <p:nvPr/>
        </p:nvSpPr>
        <p:spPr>
          <a:xfrm>
            <a:off x="1790395" y="4848149"/>
            <a:ext cx="432145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2B3A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interrogative clitic </a:t>
            </a:r>
            <a:r>
              <a:rPr lang="en-US" sz="1300" dirty="0">
                <a:solidFill>
                  <a:srgbClr val="2B3A4D"/>
                </a:solidFill>
                <a:latin typeface="var(--mono)" pitchFamily="34" charset="0"/>
                <a:ea typeface="var(--mono)" pitchFamily="34" charset="-122"/>
                <a:cs typeface="var(--mono)" pitchFamily="34" charset="-120"/>
              </a:rPr>
              <a:t>‑mı/‑mi</a:t>
            </a:r>
            <a:r>
              <a:rPr lang="en-US" sz="1300" dirty="0">
                <a:solidFill>
                  <a:srgbClr val="2B3A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is unstressed.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1143000" y="6087161"/>
            <a:ext cx="7239305" cy="9144"/>
          </a:xfrm>
          <a:prstGeom prst="rect">
            <a:avLst/>
          </a:prstGeom>
          <a:solidFill>
            <a:srgbClr val="D8DEE6"/>
          </a:solidFill>
          <a:ln w="12700">
            <a:solidFill>
              <a:srgbClr val="D8DEE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19" name="Text 13"/>
          <p:cNvSpPr txBox="1"/>
          <p:nvPr/>
        </p:nvSpPr>
        <p:spPr>
          <a:xfrm>
            <a:off x="1790395" y="5429707"/>
            <a:ext cx="4905756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B2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Auxiliary parts of speech</a:t>
            </a:r>
            <a:endParaRPr lang="en-US" sz="1600" dirty="0"/>
          </a:p>
        </p:txBody>
      </p:sp>
      <p:sp>
        <p:nvSpPr>
          <p:cNvPr id="20" name="Text 14"/>
          <p:cNvSpPr txBox="1"/>
          <p:nvPr/>
        </p:nvSpPr>
        <p:spPr>
          <a:xfrm>
            <a:off x="1790395" y="5715000"/>
            <a:ext cx="5591556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2B3A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Postpositions and conjunctions carry no independent stress.</a:t>
            </a:r>
            <a:endParaRPr lang="en-US" sz="1300" dirty="0"/>
          </a:p>
        </p:txBody>
      </p:sp>
      <p:sp>
        <p:nvSpPr>
          <p:cNvPr id="21" name="Text 15"/>
          <p:cNvSpPr txBox="1"/>
          <p:nvPr/>
        </p:nvSpPr>
        <p:spPr>
          <a:xfrm>
            <a:off x="1790395" y="6267298"/>
            <a:ext cx="5229454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B2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Default — final syllable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1790395" y="6553505"/>
            <a:ext cx="5915254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2B3A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none of the above apply, stress falls on the word-final syllable.</a:t>
            </a:r>
            <a:endParaRPr lang="en-US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9048902" y="2762402"/>
            <a:ext cx="8097012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25" dirty="0">
                <a:solidFill>
                  <a:srgbClr val="1F5A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INTONATION — 5 SENTENCE TYPES (ToBI)</a:t>
            </a:r>
            <a:endParaRPr lang="en-US" sz="10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3278841"/>
              </p:ext>
            </p:extLst>
          </p:nvPr>
        </p:nvGraphicFramePr>
        <p:xfrm>
          <a:off x="9048902" y="3524098"/>
          <a:ext cx="7039813" cy="3432046"/>
        </p:xfrm>
        <a:graphic>
          <a:graphicData uri="http://schemas.openxmlformats.org/drawingml/2006/table">
            <a:tbl>
              <a:tblPr/>
              <a:tblGrid>
                <a:gridCol w="17326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474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5968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997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6A768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SENTENCE TYPE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133502" marB="133502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6A768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TONE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133502" marB="133502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6A768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F0 CONTOUR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133502" marB="133502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99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0B2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Declarative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171907" marB="171907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C9A227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H*</a:t>
                      </a:r>
                      <a:endParaRPr lang="en-US" sz="150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152705" marR="152705" marT="171907" marB="171907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B3A4D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Final fall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171907" marB="171907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99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0B2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Yes / No question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171907" marB="171907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C9A227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L*</a:t>
                      </a:r>
                      <a:endParaRPr lang="en-US" sz="150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152705" marR="152705" marT="171907" marB="171907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B3A4D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Final rise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171907" marB="171907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99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0B2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Wh-question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171907" marB="171907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C9A227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H*</a:t>
                      </a:r>
                      <a:endParaRPr lang="en-US" sz="150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152705" marR="152705" marT="171907" marB="171907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B3A4D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High tone on the wh-word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171907" marB="171907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99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0B2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Exclamatory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171907" marB="171907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C9A227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H*+L</a:t>
                      </a:r>
                      <a:endParaRPr lang="en-US" sz="150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152705" marR="152705" marT="171907" marB="171907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B3A4D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Sharp rise–fall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171907" marB="171907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99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0B2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Imperative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171907" marB="171907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C9A227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H*</a:t>
                      </a:r>
                      <a:endParaRPr lang="en-US" sz="150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152705" marR="152705" marT="171907" marB="171907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B3A4D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Sustained high tone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171907" marB="171907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5" name="Text 18"/>
          <p:cNvSpPr txBox="1"/>
          <p:nvPr/>
        </p:nvSpPr>
        <p:spPr>
          <a:xfrm>
            <a:off x="9048902" y="8762695"/>
            <a:ext cx="8241487" cy="2386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6A7686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ToBI = Tones and Break Indices — an international prosodic annotation standard.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4" name="Shape 2"/>
          <p:cNvSpPr/>
          <p:nvPr/>
        </p:nvSpPr>
        <p:spPr>
          <a:xfrm>
            <a:off x="1143000" y="3143707"/>
            <a:ext cx="16002000" cy="666598"/>
          </a:xfrm>
          <a:prstGeom prst="rect">
            <a:avLst/>
          </a:prstGeom>
          <a:solidFill>
            <a:srgbClr val="EAEF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pic>
        <p:nvPicPr>
          <p:cNvPr id="5" name="Image 0" descr="gen-dedup-509db3d6f519a4b909907285478a803f.png"/>
          <p:cNvPicPr>
            <a:picLocks noChangeAspect="1"/>
          </p:cNvPicPr>
          <p:nvPr/>
        </p:nvPicPr>
        <p:blipFill>
          <a:blip r:embed="rId3"/>
          <a:srcRect t="-399" b="-399"/>
          <a:stretch/>
        </p:blipFill>
        <p:spPr>
          <a:xfrm>
            <a:off x="2667305" y="5524805"/>
            <a:ext cx="14097305" cy="1920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43000" y="7144207"/>
            <a:ext cx="16002000" cy="666598"/>
          </a:xfrm>
          <a:prstGeom prst="rect">
            <a:avLst/>
          </a:prstGeom>
          <a:solidFill>
            <a:srgbClr val="0B2A4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pic>
        <p:nvPicPr>
          <p:cNvPr id="7" name="Image 1" descr="gen-dedup-cfc304a6ff6b7471c886aeceb308770f.png"/>
          <p:cNvPicPr>
            <a:picLocks noChangeAspect="1"/>
          </p:cNvPicPr>
          <p:nvPr/>
        </p:nvPicPr>
        <p:blipFill>
          <a:blip r:embed="rId4"/>
          <a:srcRect t="-420" b="-420"/>
          <a:stretch/>
        </p:blipFill>
        <p:spPr>
          <a:xfrm>
            <a:off x="1143000" y="761695"/>
            <a:ext cx="761695" cy="38405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1524305" y="4381805"/>
            <a:ext cx="2895905" cy="2324405"/>
          </a:xfrm>
          <a:prstGeom prst="rect">
            <a:avLst/>
          </a:prstGeom>
          <a:solidFill>
            <a:srgbClr val="FFFFFF"/>
          </a:solidFill>
          <a:ln w="25400">
            <a:solidFill>
              <a:srgbClr val="0B2A4A"/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9" name="Shape 5"/>
          <p:cNvSpPr/>
          <p:nvPr/>
        </p:nvSpPr>
        <p:spPr>
          <a:xfrm>
            <a:off x="4667098" y="4381805"/>
            <a:ext cx="2895905" cy="2324405"/>
          </a:xfrm>
          <a:prstGeom prst="rect">
            <a:avLst/>
          </a:prstGeom>
          <a:solidFill>
            <a:srgbClr val="FFFFFF"/>
          </a:solidFill>
          <a:ln w="25400">
            <a:solidFill>
              <a:srgbClr val="0B2A4A"/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10" name="Shape 6"/>
          <p:cNvSpPr/>
          <p:nvPr/>
        </p:nvSpPr>
        <p:spPr>
          <a:xfrm>
            <a:off x="7810805" y="4381805"/>
            <a:ext cx="2895905" cy="2324405"/>
          </a:xfrm>
          <a:prstGeom prst="rect">
            <a:avLst/>
          </a:prstGeom>
          <a:solidFill>
            <a:srgbClr val="FFFFFF"/>
          </a:solidFill>
          <a:ln w="25400">
            <a:solidFill>
              <a:srgbClr val="0B2A4A"/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11" name="Shape 7"/>
          <p:cNvSpPr/>
          <p:nvPr/>
        </p:nvSpPr>
        <p:spPr>
          <a:xfrm>
            <a:off x="10953598" y="4381805"/>
            <a:ext cx="2895905" cy="2324405"/>
          </a:xfrm>
          <a:prstGeom prst="rect">
            <a:avLst/>
          </a:prstGeom>
          <a:solidFill>
            <a:srgbClr val="FFFFFF"/>
          </a:solidFill>
          <a:ln w="25400">
            <a:solidFill>
              <a:srgbClr val="0B2A4A"/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12" name="Shape 8"/>
          <p:cNvSpPr/>
          <p:nvPr/>
        </p:nvSpPr>
        <p:spPr>
          <a:xfrm>
            <a:off x="14097305" y="4381805"/>
            <a:ext cx="2857500" cy="2286000"/>
          </a:xfrm>
          <a:prstGeom prst="rect">
            <a:avLst/>
          </a:prstGeom>
          <a:solidFill>
            <a:srgbClr val="0B2A4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13" name="Text 9"/>
          <p:cNvSpPr txBox="1"/>
          <p:nvPr/>
        </p:nvSpPr>
        <p:spPr>
          <a:xfrm>
            <a:off x="1143000" y="952805"/>
            <a:ext cx="762061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1F5A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 · IMPLEMENTATION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1143000" y="1429207"/>
            <a:ext cx="15882214" cy="685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100" b="1" kern="0" spc="-75" dirty="0">
                <a:solidFill>
                  <a:srgbClr val="0B2A4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System architecture — a 5-stage pipeline</a:t>
            </a:r>
            <a:endParaRPr lang="en-US" sz="5100" dirty="0"/>
          </a:p>
        </p:txBody>
      </p:sp>
      <p:sp>
        <p:nvSpPr>
          <p:cNvPr id="15" name="Text 11"/>
          <p:cNvSpPr txBox="1"/>
          <p:nvPr/>
        </p:nvSpPr>
        <p:spPr>
          <a:xfrm>
            <a:off x="16573500" y="9715500"/>
            <a:ext cx="762610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000" kern="0" spc="150" dirty="0">
                <a:solidFill>
                  <a:srgbClr val="6A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/ 16</a:t>
            </a:r>
            <a:endParaRPr lang="en-US" sz="1000" dirty="0"/>
          </a:p>
        </p:txBody>
      </p:sp>
      <p:sp>
        <p:nvSpPr>
          <p:cNvPr id="16" name="Text 12"/>
          <p:cNvSpPr txBox="1"/>
          <p:nvPr/>
        </p:nvSpPr>
        <p:spPr>
          <a:xfrm>
            <a:off x="1524305" y="3419856"/>
            <a:ext cx="562356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25" dirty="0">
                <a:solidFill>
                  <a:srgbClr val="6A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INPUT</a:t>
            </a:r>
            <a:endParaRPr lang="en-US" sz="1000" dirty="0"/>
          </a:p>
        </p:txBody>
      </p:sp>
      <p:sp>
        <p:nvSpPr>
          <p:cNvPr id="17" name="Text 13"/>
          <p:cNvSpPr txBox="1"/>
          <p:nvPr/>
        </p:nvSpPr>
        <p:spPr>
          <a:xfrm>
            <a:off x="6508699" y="3314700"/>
            <a:ext cx="5553151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100" i="1" dirty="0">
                <a:solidFill>
                  <a:srgbClr val="0B2A4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«Bu axşam saat 19:30‑da görüşəcəyik.»</a:t>
            </a:r>
            <a:endParaRPr lang="en-US" sz="2100" dirty="0"/>
          </a:p>
        </p:txBody>
      </p:sp>
      <p:sp>
        <p:nvSpPr>
          <p:cNvPr id="18" name="Text 14"/>
          <p:cNvSpPr txBox="1"/>
          <p:nvPr/>
        </p:nvSpPr>
        <p:spPr>
          <a:xfrm>
            <a:off x="15804490" y="3409798"/>
            <a:ext cx="1228954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25" dirty="0">
                <a:solidFill>
                  <a:srgbClr val="6A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UTF‑8 text</a:t>
            </a:r>
            <a:endParaRPr lang="en-US" sz="1000" dirty="0"/>
          </a:p>
        </p:txBody>
      </p:sp>
      <p:sp>
        <p:nvSpPr>
          <p:cNvPr id="19" name="Text 15"/>
          <p:cNvSpPr txBox="1"/>
          <p:nvPr/>
        </p:nvSpPr>
        <p:spPr>
          <a:xfrm>
            <a:off x="1714500" y="4572000"/>
            <a:ext cx="2477110" cy="467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C9A227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01</a:t>
            </a:r>
            <a:endParaRPr lang="en-US" sz="2700" dirty="0"/>
          </a:p>
        </p:txBody>
      </p:sp>
      <p:sp>
        <p:nvSpPr>
          <p:cNvPr id="20" name="Text 16"/>
          <p:cNvSpPr txBox="1"/>
          <p:nvPr/>
        </p:nvSpPr>
        <p:spPr>
          <a:xfrm>
            <a:off x="1714500" y="5095951"/>
            <a:ext cx="2477110" cy="2578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B2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 normalization</a:t>
            </a:r>
            <a:endParaRPr lang="en-US" sz="1600" dirty="0"/>
          </a:p>
        </p:txBody>
      </p:sp>
      <p:sp>
        <p:nvSpPr>
          <p:cNvPr id="21" name="Text 17"/>
          <p:cNvSpPr txBox="1"/>
          <p:nvPr/>
        </p:nvSpPr>
        <p:spPr>
          <a:xfrm>
            <a:off x="1714500" y="5442509"/>
            <a:ext cx="2477110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2B3A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Symbols, dates, time, numbers, abbreviations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1714500" y="5964631"/>
            <a:ext cx="2477110" cy="1719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F5A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8-step cascade</a:t>
            </a:r>
            <a:endParaRPr lang="en-US" sz="1000" dirty="0"/>
          </a:p>
        </p:txBody>
      </p:sp>
      <p:sp>
        <p:nvSpPr>
          <p:cNvPr id="23" name="Text 19"/>
          <p:cNvSpPr txBox="1"/>
          <p:nvPr/>
        </p:nvSpPr>
        <p:spPr>
          <a:xfrm>
            <a:off x="4858207" y="4572000"/>
            <a:ext cx="2477110" cy="467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C9A227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02</a:t>
            </a:r>
            <a:endParaRPr lang="en-US" sz="2700" dirty="0"/>
          </a:p>
        </p:txBody>
      </p:sp>
      <p:sp>
        <p:nvSpPr>
          <p:cNvPr id="24" name="Text 20"/>
          <p:cNvSpPr txBox="1"/>
          <p:nvPr/>
        </p:nvSpPr>
        <p:spPr>
          <a:xfrm>
            <a:off x="4858207" y="5095951"/>
            <a:ext cx="2477110" cy="2578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B2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G2P conversion</a:t>
            </a:r>
            <a:endParaRPr lang="en-US" sz="1600" dirty="0"/>
          </a:p>
        </p:txBody>
      </p:sp>
      <p:sp>
        <p:nvSpPr>
          <p:cNvPr id="25" name="Text 21"/>
          <p:cNvSpPr txBox="1"/>
          <p:nvPr/>
        </p:nvSpPr>
        <p:spPr>
          <a:xfrm>
            <a:off x="4858207" y="5442509"/>
            <a:ext cx="2477110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2B3A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Grapheme → phoneme with contextual rules</a:t>
            </a:r>
            <a:endParaRPr lang="en-US" sz="1200" dirty="0"/>
          </a:p>
        </p:txBody>
      </p:sp>
      <p:sp>
        <p:nvSpPr>
          <p:cNvPr id="26" name="Text 22"/>
          <p:cNvSpPr txBox="1"/>
          <p:nvPr/>
        </p:nvSpPr>
        <p:spPr>
          <a:xfrm>
            <a:off x="4858207" y="5964631"/>
            <a:ext cx="2477110" cy="1719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F5A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lookahead/lookbehind</a:t>
            </a:r>
            <a:endParaRPr lang="en-US" sz="1000" dirty="0"/>
          </a:p>
        </p:txBody>
      </p:sp>
      <p:sp>
        <p:nvSpPr>
          <p:cNvPr id="27" name="Text 23"/>
          <p:cNvSpPr txBox="1"/>
          <p:nvPr/>
        </p:nvSpPr>
        <p:spPr>
          <a:xfrm>
            <a:off x="8001000" y="4572000"/>
            <a:ext cx="2477110" cy="467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C9A227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03</a:t>
            </a:r>
            <a:endParaRPr lang="en-US" sz="2700" dirty="0"/>
          </a:p>
        </p:txBody>
      </p:sp>
      <p:sp>
        <p:nvSpPr>
          <p:cNvPr id="28" name="Text 24"/>
          <p:cNvSpPr txBox="1"/>
          <p:nvPr/>
        </p:nvSpPr>
        <p:spPr>
          <a:xfrm>
            <a:off x="8001000" y="5095951"/>
            <a:ext cx="2477110" cy="2578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B2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Stress assigner</a:t>
            </a:r>
            <a:endParaRPr lang="en-US" sz="1600" dirty="0"/>
          </a:p>
        </p:txBody>
      </p:sp>
      <p:sp>
        <p:nvSpPr>
          <p:cNvPr id="29" name="Text 25"/>
          <p:cNvSpPr txBox="1"/>
          <p:nvPr/>
        </p:nvSpPr>
        <p:spPr>
          <a:xfrm>
            <a:off x="8001000" y="5442509"/>
            <a:ext cx="247711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2B3A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4-level priority hierarchy</a:t>
            </a:r>
            <a:endParaRPr lang="en-US" sz="1200" dirty="0"/>
          </a:p>
        </p:txBody>
      </p:sp>
      <p:sp>
        <p:nvSpPr>
          <p:cNvPr id="30" name="Text 26"/>
          <p:cNvSpPr txBox="1"/>
          <p:nvPr/>
        </p:nvSpPr>
        <p:spPr>
          <a:xfrm>
            <a:off x="8001000" y="5750662"/>
            <a:ext cx="2477110" cy="1719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F5A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stress_rules.json</a:t>
            </a:r>
            <a:endParaRPr lang="en-US" sz="1000" dirty="0"/>
          </a:p>
        </p:txBody>
      </p:sp>
      <p:sp>
        <p:nvSpPr>
          <p:cNvPr id="31" name="Text 27"/>
          <p:cNvSpPr txBox="1"/>
          <p:nvPr/>
        </p:nvSpPr>
        <p:spPr>
          <a:xfrm>
            <a:off x="11144707" y="4572000"/>
            <a:ext cx="2477110" cy="467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C9A227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04</a:t>
            </a:r>
            <a:endParaRPr lang="en-US" sz="2700" dirty="0"/>
          </a:p>
        </p:txBody>
      </p:sp>
      <p:sp>
        <p:nvSpPr>
          <p:cNvPr id="32" name="Text 28"/>
          <p:cNvSpPr txBox="1"/>
          <p:nvPr/>
        </p:nvSpPr>
        <p:spPr>
          <a:xfrm>
            <a:off x="11144707" y="5095951"/>
            <a:ext cx="2477110" cy="2578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B2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Prosody engine</a:t>
            </a:r>
            <a:endParaRPr lang="en-US" sz="1600" dirty="0"/>
          </a:p>
        </p:txBody>
      </p:sp>
      <p:sp>
        <p:nvSpPr>
          <p:cNvPr id="33" name="Text 29"/>
          <p:cNvSpPr txBox="1"/>
          <p:nvPr/>
        </p:nvSpPr>
        <p:spPr>
          <a:xfrm>
            <a:off x="11144707" y="5442509"/>
            <a:ext cx="265999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2B3A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Duration, F0 contour, pauses</a:t>
            </a:r>
            <a:endParaRPr lang="en-US" sz="1200" dirty="0"/>
          </a:p>
        </p:txBody>
      </p:sp>
      <p:sp>
        <p:nvSpPr>
          <p:cNvPr id="34" name="Text 30"/>
          <p:cNvSpPr txBox="1"/>
          <p:nvPr/>
        </p:nvSpPr>
        <p:spPr>
          <a:xfrm>
            <a:off x="11144707" y="5750662"/>
            <a:ext cx="2477110" cy="1719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F5A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ToBI-based</a:t>
            </a:r>
            <a:endParaRPr lang="en-US" sz="1000" dirty="0"/>
          </a:p>
        </p:txBody>
      </p:sp>
      <p:sp>
        <p:nvSpPr>
          <p:cNvPr id="35" name="Text 31"/>
          <p:cNvSpPr txBox="1"/>
          <p:nvPr/>
        </p:nvSpPr>
        <p:spPr>
          <a:xfrm>
            <a:off x="14287500" y="4572000"/>
            <a:ext cx="2477110" cy="467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C9A227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05</a:t>
            </a:r>
            <a:endParaRPr lang="en-US" sz="2700" dirty="0"/>
          </a:p>
        </p:txBody>
      </p:sp>
      <p:sp>
        <p:nvSpPr>
          <p:cNvPr id="36" name="Text 32"/>
          <p:cNvSpPr txBox="1"/>
          <p:nvPr/>
        </p:nvSpPr>
        <p:spPr>
          <a:xfrm>
            <a:off x="14287500" y="5095951"/>
            <a:ext cx="2477110" cy="2578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Synthesizer</a:t>
            </a:r>
            <a:endParaRPr lang="en-US" sz="1600" dirty="0"/>
          </a:p>
        </p:txBody>
      </p:sp>
      <p:sp>
        <p:nvSpPr>
          <p:cNvPr id="37" name="Text 33"/>
          <p:cNvSpPr txBox="1"/>
          <p:nvPr/>
        </p:nvSpPr>
        <p:spPr>
          <a:xfrm>
            <a:off x="14287500" y="5442509"/>
            <a:ext cx="247711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7D3E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Waveform generation</a:t>
            </a:r>
            <a:endParaRPr lang="en-US" sz="1200" dirty="0"/>
          </a:p>
        </p:txBody>
      </p:sp>
      <p:sp>
        <p:nvSpPr>
          <p:cNvPr id="38" name="Text 34"/>
          <p:cNvSpPr txBox="1"/>
          <p:nvPr/>
        </p:nvSpPr>
        <p:spPr>
          <a:xfrm>
            <a:off x="14287500" y="5750662"/>
            <a:ext cx="2477110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9A22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espeak‑ng (subprocess)</a:t>
            </a:r>
            <a:endParaRPr lang="en-US" sz="1000" dirty="0"/>
          </a:p>
        </p:txBody>
      </p:sp>
      <p:sp>
        <p:nvSpPr>
          <p:cNvPr id="39" name="Text 35"/>
          <p:cNvSpPr txBox="1"/>
          <p:nvPr/>
        </p:nvSpPr>
        <p:spPr>
          <a:xfrm>
            <a:off x="1524305" y="7391095"/>
            <a:ext cx="734263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25" dirty="0">
                <a:solidFill>
                  <a:srgbClr val="C9A2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OUTPUT</a:t>
            </a:r>
            <a:endParaRPr lang="en-US" sz="1000" dirty="0"/>
          </a:p>
        </p:txBody>
      </p:sp>
      <p:sp>
        <p:nvSpPr>
          <p:cNvPr id="40" name="Text 36"/>
          <p:cNvSpPr txBox="1"/>
          <p:nvPr/>
        </p:nvSpPr>
        <p:spPr>
          <a:xfrm>
            <a:off x="7600493" y="7315200"/>
            <a:ext cx="3038551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i="1" dirty="0">
                <a:solidFill>
                  <a:srgbClr val="FFFFFF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WAV / live audio stream</a:t>
            </a:r>
            <a:endParaRPr lang="en-US" sz="1800" dirty="0"/>
          </a:p>
        </p:txBody>
      </p:sp>
      <p:sp>
        <p:nvSpPr>
          <p:cNvPr id="41" name="Text 37"/>
          <p:cNvSpPr txBox="1"/>
          <p:nvPr/>
        </p:nvSpPr>
        <p:spPr>
          <a:xfrm>
            <a:off x="15492679" y="7391095"/>
            <a:ext cx="1608430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25" dirty="0">
                <a:solidFill>
                  <a:srgbClr val="C9A2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 kHz · mono</a:t>
            </a:r>
            <a:endParaRPr lang="en-US" sz="1000" dirty="0"/>
          </a:p>
        </p:txBody>
      </p:sp>
      <p:sp>
        <p:nvSpPr>
          <p:cNvPr id="42" name="Text 38"/>
          <p:cNvSpPr txBox="1"/>
          <p:nvPr/>
        </p:nvSpPr>
        <p:spPr>
          <a:xfrm>
            <a:off x="1143000" y="8287207"/>
            <a:ext cx="16002000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25" dirty="0">
                <a:solidFill>
                  <a:srgbClr val="6A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DESIGN PRINCIPLES</a:t>
            </a:r>
            <a:endParaRPr lang="en-US" sz="1000" dirty="0"/>
          </a:p>
        </p:txBody>
      </p:sp>
      <p:sp>
        <p:nvSpPr>
          <p:cNvPr id="43" name="Text 39"/>
          <p:cNvSpPr txBox="1"/>
          <p:nvPr/>
        </p:nvSpPr>
        <p:spPr>
          <a:xfrm>
            <a:off x="1143000" y="8620049"/>
            <a:ext cx="5181905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C9A2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·</a:t>
            </a:r>
            <a:r>
              <a:rPr lang="en-US" sz="1600" dirty="0">
                <a:solidFill>
                  <a:srgbClr val="0E17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Each module independently testable</a:t>
            </a:r>
            <a:endParaRPr lang="en-US" sz="1600" dirty="0"/>
          </a:p>
        </p:txBody>
      </p:sp>
      <p:sp>
        <p:nvSpPr>
          <p:cNvPr id="44" name="Text 40"/>
          <p:cNvSpPr txBox="1"/>
          <p:nvPr/>
        </p:nvSpPr>
        <p:spPr>
          <a:xfrm>
            <a:off x="6553505" y="8620049"/>
            <a:ext cx="5181905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C9A2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·</a:t>
            </a:r>
            <a:r>
              <a:rPr lang="en-US" sz="1600" dirty="0">
                <a:solidFill>
                  <a:srgbClr val="0E17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Rules live in JSON configuration</a:t>
            </a:r>
            <a:endParaRPr lang="en-US" sz="1600" dirty="0"/>
          </a:p>
        </p:txBody>
      </p:sp>
      <p:sp>
        <p:nvSpPr>
          <p:cNvPr id="45" name="Text 41"/>
          <p:cNvSpPr txBox="1"/>
          <p:nvPr/>
        </p:nvSpPr>
        <p:spPr>
          <a:xfrm>
            <a:off x="11963095" y="8620049"/>
            <a:ext cx="5181905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C9A2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·</a:t>
            </a:r>
            <a:r>
              <a:rPr lang="en-US" sz="1600" dirty="0">
                <a:solidFill>
                  <a:srgbClr val="0E17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No model weights anywhere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4" name="Shape 2"/>
          <p:cNvSpPr/>
          <p:nvPr/>
        </p:nvSpPr>
        <p:spPr>
          <a:xfrm>
            <a:off x="1143000" y="3143707"/>
            <a:ext cx="8001000" cy="2857500"/>
          </a:xfrm>
          <a:prstGeom prst="rect">
            <a:avLst/>
          </a:prstGeom>
          <a:solidFill>
            <a:srgbClr val="F4F6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5" name="Shape 3"/>
          <p:cNvSpPr/>
          <p:nvPr/>
        </p:nvSpPr>
        <p:spPr>
          <a:xfrm>
            <a:off x="9334195" y="3143707"/>
            <a:ext cx="7810805" cy="2857500"/>
          </a:xfrm>
          <a:prstGeom prst="rect">
            <a:avLst/>
          </a:prstGeom>
          <a:solidFill>
            <a:srgbClr val="F4F6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6" name="Shape 4"/>
          <p:cNvSpPr/>
          <p:nvPr/>
        </p:nvSpPr>
        <p:spPr>
          <a:xfrm>
            <a:off x="1143000" y="6286500"/>
            <a:ext cx="8001000" cy="2857500"/>
          </a:xfrm>
          <a:prstGeom prst="rect">
            <a:avLst/>
          </a:prstGeom>
          <a:solidFill>
            <a:srgbClr val="F4F6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7" name="Shape 5"/>
          <p:cNvSpPr/>
          <p:nvPr/>
        </p:nvSpPr>
        <p:spPr>
          <a:xfrm>
            <a:off x="9334195" y="6286500"/>
            <a:ext cx="7810805" cy="2857500"/>
          </a:xfrm>
          <a:prstGeom prst="rect">
            <a:avLst/>
          </a:prstGeom>
          <a:solidFill>
            <a:srgbClr val="0B2A4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pic>
        <p:nvPicPr>
          <p:cNvPr id="8" name="Image 0" descr="gen-dedup-cfc304a6ff6b7471c886aeceb308770f.png"/>
          <p:cNvPicPr>
            <a:picLocks noChangeAspect="1"/>
          </p:cNvPicPr>
          <p:nvPr/>
        </p:nvPicPr>
        <p:blipFill>
          <a:blip r:embed="rId3"/>
          <a:srcRect t="-420" b="-420"/>
          <a:stretch/>
        </p:blipFill>
        <p:spPr>
          <a:xfrm>
            <a:off x="1143000" y="761695"/>
            <a:ext cx="761695" cy="38405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43000" y="952805"/>
            <a:ext cx="571500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1F5A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 · IMPLEMENTATION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1143000" y="1429207"/>
            <a:ext cx="14706295" cy="685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100" b="1" kern="0" spc="-75" dirty="0">
                <a:solidFill>
                  <a:srgbClr val="0B2A4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Inside the modules — a worked example</a:t>
            </a:r>
            <a:endParaRPr lang="en-US" sz="5100" dirty="0"/>
          </a:p>
        </p:txBody>
      </p:sp>
      <p:sp>
        <p:nvSpPr>
          <p:cNvPr id="11" name="Text 8"/>
          <p:cNvSpPr txBox="1"/>
          <p:nvPr/>
        </p:nvSpPr>
        <p:spPr>
          <a:xfrm>
            <a:off x="1143000" y="2286000"/>
            <a:ext cx="14287500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i="1" dirty="0">
                <a:solidFill>
                  <a:srgbClr val="2B3A4D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The steps a sentence travels from input text to final waveform.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6573500" y="9715500"/>
            <a:ext cx="762610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000" kern="0" spc="150" dirty="0">
                <a:solidFill>
                  <a:srgbClr val="6A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/ 16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1429207" y="3372307"/>
            <a:ext cx="533095" cy="5532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C9A227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01</a:t>
            </a:r>
            <a:endParaRPr lang="en-US" sz="3100" dirty="0"/>
          </a:p>
        </p:txBody>
      </p:sp>
      <p:sp>
        <p:nvSpPr>
          <p:cNvPr id="14" name="Text 11"/>
          <p:cNvSpPr txBox="1"/>
          <p:nvPr/>
        </p:nvSpPr>
        <p:spPr>
          <a:xfrm>
            <a:off x="2036369" y="3524098"/>
            <a:ext cx="2563063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75" dirty="0">
                <a:solidFill>
                  <a:srgbClr val="0B2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 NORMALISATION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429207" y="4153205"/>
            <a:ext cx="76261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150" dirty="0">
                <a:solidFill>
                  <a:srgbClr val="6A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INPUT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2361895" y="4153205"/>
            <a:ext cx="6496812" cy="2578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0E172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Bu axşam saat 19:30‑da görüşəcəyik.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1429207" y="4524451"/>
            <a:ext cx="76261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150" dirty="0">
                <a:solidFill>
                  <a:srgbClr val="6A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OUTPUT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2361895" y="4524451"/>
            <a:ext cx="6496812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B2A4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bu axşam saat on doqquz otuzda görüşəcəyik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429207" y="4943246"/>
            <a:ext cx="7429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A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8-step cascade: symbols → dates → time → ordinals → cardinals → Roman numerals → abbreviations → regex cleanup.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9620402" y="3372307"/>
            <a:ext cx="533095" cy="5532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C9A227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02</a:t>
            </a:r>
            <a:endParaRPr lang="en-US" sz="3100" dirty="0"/>
          </a:p>
        </p:txBody>
      </p:sp>
      <p:sp>
        <p:nvSpPr>
          <p:cNvPr id="21" name="Text 18"/>
          <p:cNvSpPr txBox="1"/>
          <p:nvPr/>
        </p:nvSpPr>
        <p:spPr>
          <a:xfrm>
            <a:off x="10227564" y="3519526"/>
            <a:ext cx="3534156" cy="2578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75" dirty="0">
                <a:solidFill>
                  <a:srgbClr val="0B2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G2P — GRAPHEME → PHONEME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620402" y="4153205"/>
            <a:ext cx="76261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150" dirty="0">
                <a:solidFill>
                  <a:srgbClr val="6A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WORD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554005" y="4153205"/>
            <a:ext cx="6305702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0E172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görüşəcəyik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9620402" y="4515307"/>
            <a:ext cx="76261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150" dirty="0">
                <a:solidFill>
                  <a:srgbClr val="6A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IPA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10554005" y="4515307"/>
            <a:ext cx="6305702" cy="2578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B2A4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[ɟœɾyʃæd͡ʒæjic]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9620402" y="4943246"/>
            <a:ext cx="7925105" cy="2386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A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Context-sensitive: /k/ becomes [c] </a:t>
            </a:r>
            <a:r>
              <a:rPr lang="en-US" sz="1200" dirty="0">
                <a:solidFill>
                  <a:srgbClr val="6A7686"/>
                </a:solidFill>
                <a:latin typeface="var(--mono)" pitchFamily="34" charset="0"/>
                <a:ea typeface="var(--mono)" pitchFamily="34" charset="-122"/>
                <a:cs typeface="var(--mono)" pitchFamily="34" charset="-120"/>
              </a:rPr>
              <a:t>in the environment of front vowels</a:t>
            </a:r>
            <a:r>
              <a:rPr lang="en-US" sz="1200" dirty="0">
                <a:solidFill>
                  <a:srgbClr val="6A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(palatalisation).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1429207" y="6515100"/>
            <a:ext cx="533095" cy="5532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C9A227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03</a:t>
            </a:r>
            <a:endParaRPr lang="en-US" sz="3100" dirty="0"/>
          </a:p>
        </p:txBody>
      </p:sp>
      <p:sp>
        <p:nvSpPr>
          <p:cNvPr id="28" name="Text 25"/>
          <p:cNvSpPr txBox="1"/>
          <p:nvPr/>
        </p:nvSpPr>
        <p:spPr>
          <a:xfrm>
            <a:off x="2036369" y="6667805"/>
            <a:ext cx="2324405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75" dirty="0">
                <a:solidFill>
                  <a:srgbClr val="0B2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STRESS PLACEMENT</a:t>
            </a:r>
            <a:endParaRPr lang="en-US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1429207" y="7295998"/>
            <a:ext cx="1011326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150" dirty="0">
                <a:solidFill>
                  <a:srgbClr val="6A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SYLLABLES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2361895" y="7295998"/>
            <a:ext cx="6496812" cy="2578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0E172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gö ‑ rü ‑ şə ‑ cə ‑ </a:t>
            </a:r>
            <a:r>
              <a:rPr lang="en-US" sz="1500" b="1" dirty="0">
                <a:solidFill>
                  <a:srgbClr val="0B2A4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yik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1429207" y="7667244"/>
            <a:ext cx="76261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150" dirty="0">
                <a:solidFill>
                  <a:srgbClr val="6A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RULE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2361895" y="7667244"/>
            <a:ext cx="649681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B2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P4 — default → final syllable</a:t>
            </a:r>
            <a:endParaRPr lang="en-US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1429207" y="8067751"/>
            <a:ext cx="81153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A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P1 (negation) does not apply; P2 and P3 do not apply either — stress falls on the final syllable.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9620402" y="6515100"/>
            <a:ext cx="1841602" cy="5532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C9A227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04 + 05</a:t>
            </a:r>
            <a:endParaRPr lang="en-US" sz="3100" dirty="0"/>
          </a:p>
        </p:txBody>
      </p:sp>
      <p:sp>
        <p:nvSpPr>
          <p:cNvPr id="35" name="Text 32"/>
          <p:cNvSpPr txBox="1"/>
          <p:nvPr/>
        </p:nvSpPr>
        <p:spPr>
          <a:xfrm>
            <a:off x="11083442" y="6667805"/>
            <a:ext cx="2667305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75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PROSODY + SYNTHESIS</a:t>
            </a:r>
            <a:endParaRPr lang="en-US" sz="1600" dirty="0"/>
          </a:p>
        </p:txBody>
      </p:sp>
      <p:sp>
        <p:nvSpPr>
          <p:cNvPr id="36" name="Text 33"/>
          <p:cNvSpPr txBox="1"/>
          <p:nvPr/>
        </p:nvSpPr>
        <p:spPr>
          <a:xfrm>
            <a:off x="9620402" y="7295998"/>
            <a:ext cx="76261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150" dirty="0">
                <a:solidFill>
                  <a:srgbClr val="9FB4D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TONE</a:t>
            </a:r>
            <a:endParaRPr lang="en-US" sz="1000" dirty="0"/>
          </a:p>
        </p:txBody>
      </p:sp>
      <p:sp>
        <p:nvSpPr>
          <p:cNvPr id="37" name="Text 34"/>
          <p:cNvSpPr txBox="1"/>
          <p:nvPr/>
        </p:nvSpPr>
        <p:spPr>
          <a:xfrm>
            <a:off x="10554005" y="7295998"/>
            <a:ext cx="630570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H* · declarative contour</a:t>
            </a:r>
            <a:endParaRPr lang="en-US" sz="1300" dirty="0"/>
          </a:p>
        </p:txBody>
      </p:sp>
      <p:sp>
        <p:nvSpPr>
          <p:cNvPr id="38" name="Text 35"/>
          <p:cNvSpPr txBox="1"/>
          <p:nvPr/>
        </p:nvSpPr>
        <p:spPr>
          <a:xfrm>
            <a:off x="9620402" y="7629754"/>
            <a:ext cx="909828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150" dirty="0">
                <a:solidFill>
                  <a:srgbClr val="9FB4D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DURATION</a:t>
            </a:r>
            <a:endParaRPr lang="en-US" sz="1000" dirty="0"/>
          </a:p>
        </p:txBody>
      </p:sp>
      <p:sp>
        <p:nvSpPr>
          <p:cNvPr id="39" name="Text 36"/>
          <p:cNvSpPr txBox="1"/>
          <p:nvPr/>
        </p:nvSpPr>
        <p:spPr>
          <a:xfrm>
            <a:off x="10554005" y="7629754"/>
            <a:ext cx="630570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+25 % lengthening on the stressed syllable</a:t>
            </a:r>
            <a:endParaRPr lang="en-US" sz="1300" dirty="0"/>
          </a:p>
        </p:txBody>
      </p:sp>
      <p:sp>
        <p:nvSpPr>
          <p:cNvPr id="40" name="Text 37"/>
          <p:cNvSpPr txBox="1"/>
          <p:nvPr/>
        </p:nvSpPr>
        <p:spPr>
          <a:xfrm>
            <a:off x="9620402" y="7962595"/>
            <a:ext cx="76261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150" dirty="0">
                <a:solidFill>
                  <a:srgbClr val="9FB4D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PAUSE</a:t>
            </a:r>
            <a:endParaRPr lang="en-US" sz="1000" dirty="0"/>
          </a:p>
        </p:txBody>
      </p:sp>
      <p:sp>
        <p:nvSpPr>
          <p:cNvPr id="41" name="Text 38"/>
          <p:cNvSpPr txBox="1"/>
          <p:nvPr/>
        </p:nvSpPr>
        <p:spPr>
          <a:xfrm>
            <a:off x="10554005" y="7962595"/>
            <a:ext cx="630570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word-end = 80 ms · sentence-end = 350 ms</a:t>
            </a:r>
            <a:endParaRPr lang="en-US" sz="1300" dirty="0"/>
          </a:p>
        </p:txBody>
      </p:sp>
      <p:sp>
        <p:nvSpPr>
          <p:cNvPr id="42" name="Text 39"/>
          <p:cNvSpPr txBox="1"/>
          <p:nvPr/>
        </p:nvSpPr>
        <p:spPr>
          <a:xfrm>
            <a:off x="9620402" y="8315554"/>
            <a:ext cx="7239305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9A22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espeak‑ng ← phonetic_string + prosody_marks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3" name="Shape 1"/>
          <p:cNvSpPr/>
          <p:nvPr/>
        </p:nvSpPr>
        <p:spPr>
          <a:xfrm>
            <a:off x="0" y="408737"/>
            <a:ext cx="18288000" cy="1028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4" name="Shape 2"/>
          <p:cNvSpPr/>
          <p:nvPr/>
        </p:nvSpPr>
        <p:spPr>
          <a:xfrm>
            <a:off x="9048902" y="8287207"/>
            <a:ext cx="8096098" cy="857707"/>
          </a:xfrm>
          <a:prstGeom prst="rect">
            <a:avLst/>
          </a:prstGeom>
          <a:solidFill>
            <a:srgbClr val="0B2A4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pic>
        <p:nvPicPr>
          <p:cNvPr id="5" name="Image 0" descr="gen-dedup-cfc304a6ff6b7471c886aeceb308770f.png"/>
          <p:cNvPicPr>
            <a:picLocks noChangeAspect="1"/>
          </p:cNvPicPr>
          <p:nvPr/>
        </p:nvPicPr>
        <p:blipFill>
          <a:blip r:embed="rId3"/>
          <a:srcRect t="-420" b="-420"/>
          <a:stretch/>
        </p:blipFill>
        <p:spPr>
          <a:xfrm>
            <a:off x="1143000" y="761695"/>
            <a:ext cx="761695" cy="38405"/>
          </a:xfrm>
          <a:prstGeom prst="rect">
            <a:avLst/>
          </a:prstGeom>
        </p:spPr>
      </p:pic>
      <p:pic>
        <p:nvPicPr>
          <p:cNvPr id="6" name="Image 1" descr="gen-dedup-46f4bd2834ede443b0a4350605eb85f0.png"/>
          <p:cNvPicPr>
            <a:picLocks noChangeAspect="1"/>
          </p:cNvPicPr>
          <p:nvPr/>
        </p:nvPicPr>
        <p:blipFill>
          <a:blip r:embed="rId4"/>
          <a:srcRect l="-385" r="-385"/>
          <a:stretch/>
        </p:blipFill>
        <p:spPr>
          <a:xfrm>
            <a:off x="1143000" y="3238805"/>
            <a:ext cx="761695" cy="28346"/>
          </a:xfrm>
          <a:prstGeom prst="rect">
            <a:avLst/>
          </a:prstGeom>
        </p:spPr>
      </p:pic>
      <p:pic>
        <p:nvPicPr>
          <p:cNvPr id="7" name="Image 2" descr="gen-dedup-4b5a8e9f8869b57674187ce28bb24099.png"/>
          <p:cNvPicPr>
            <a:picLocks noChangeAspect="1"/>
          </p:cNvPicPr>
          <p:nvPr/>
        </p:nvPicPr>
        <p:blipFill>
          <a:blip r:embed="rId5"/>
          <a:srcRect t="-2083" b="-2083"/>
          <a:stretch/>
        </p:blipFill>
        <p:spPr>
          <a:xfrm>
            <a:off x="8667598" y="2857500"/>
            <a:ext cx="9144" cy="6476695"/>
          </a:xfrm>
          <a:prstGeom prst="rect">
            <a:avLst/>
          </a:prstGeom>
        </p:spPr>
      </p:pic>
      <p:pic>
        <p:nvPicPr>
          <p:cNvPr id="8" name="Image 3" descr="gen-dedup-46f4bd2834ede443b0a4350605eb85f0.png"/>
          <p:cNvPicPr>
            <a:picLocks noChangeAspect="1"/>
          </p:cNvPicPr>
          <p:nvPr/>
        </p:nvPicPr>
        <p:blipFill>
          <a:blip r:embed="rId4"/>
          <a:srcRect l="-385" r="-385"/>
          <a:stretch/>
        </p:blipFill>
        <p:spPr>
          <a:xfrm>
            <a:off x="9048902" y="3238805"/>
            <a:ext cx="761695" cy="28346"/>
          </a:xfrm>
          <a:prstGeom prst="rect">
            <a:avLst/>
          </a:prstGeom>
        </p:spPr>
      </p:pic>
      <p:sp>
        <p:nvSpPr>
          <p:cNvPr id="9" name="Text 3"/>
          <p:cNvSpPr txBox="1"/>
          <p:nvPr/>
        </p:nvSpPr>
        <p:spPr>
          <a:xfrm>
            <a:off x="1143000" y="952805"/>
            <a:ext cx="571500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1F5A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 · IMPLEMENTATION</a:t>
            </a:r>
            <a:endParaRPr lang="en-US" sz="1300" dirty="0"/>
          </a:p>
        </p:txBody>
      </p:sp>
      <p:sp>
        <p:nvSpPr>
          <p:cNvPr id="10" name="Text 4"/>
          <p:cNvSpPr txBox="1"/>
          <p:nvPr/>
        </p:nvSpPr>
        <p:spPr>
          <a:xfrm>
            <a:off x="1143000" y="1429207"/>
            <a:ext cx="14287500" cy="685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100" b="1" kern="0" spc="-75" dirty="0">
                <a:solidFill>
                  <a:srgbClr val="0B2A4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Technical stack and rule engineering</a:t>
            </a:r>
            <a:endParaRPr lang="en-US" sz="5100" dirty="0"/>
          </a:p>
        </p:txBody>
      </p:sp>
      <p:sp>
        <p:nvSpPr>
          <p:cNvPr id="11" name="Text 5"/>
          <p:cNvSpPr txBox="1"/>
          <p:nvPr/>
        </p:nvSpPr>
        <p:spPr>
          <a:xfrm>
            <a:off x="16573500" y="9715500"/>
            <a:ext cx="762610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000" kern="0" spc="150" dirty="0">
                <a:solidFill>
                  <a:srgbClr val="6A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 / 16</a:t>
            </a:r>
            <a:endParaRPr lang="en-US" sz="1000" dirty="0"/>
          </a:p>
        </p:txBody>
      </p:sp>
      <p:sp>
        <p:nvSpPr>
          <p:cNvPr id="12" name="Text 6"/>
          <p:cNvSpPr txBox="1"/>
          <p:nvPr/>
        </p:nvSpPr>
        <p:spPr>
          <a:xfrm>
            <a:off x="1143000" y="2857500"/>
            <a:ext cx="7239305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25" dirty="0">
                <a:solidFill>
                  <a:srgbClr val="1F5A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TECHNICAL STACK</a:t>
            </a:r>
            <a:endParaRPr lang="en-US" sz="1000" dirty="0"/>
          </a:p>
        </p:txBody>
      </p:sp>
      <p:sp>
        <p:nvSpPr>
          <p:cNvPr id="13" name="Shape 7"/>
          <p:cNvSpPr/>
          <p:nvPr/>
        </p:nvSpPr>
        <p:spPr>
          <a:xfrm>
            <a:off x="1143000" y="3619195"/>
            <a:ext cx="3534156" cy="1019556"/>
          </a:xfrm>
          <a:prstGeom prst="rect">
            <a:avLst/>
          </a:prstGeom>
          <a:solidFill>
            <a:srgbClr val="F4F6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14" name="Text 8"/>
          <p:cNvSpPr txBox="1"/>
          <p:nvPr/>
        </p:nvSpPr>
        <p:spPr>
          <a:xfrm>
            <a:off x="1371600" y="3847795"/>
            <a:ext cx="3076956" cy="2953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B2A4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Python 3.11</a:t>
            </a:r>
            <a:endParaRPr lang="en-US" sz="1800" dirty="0"/>
          </a:p>
        </p:txBody>
      </p:sp>
      <p:sp>
        <p:nvSpPr>
          <p:cNvPr id="15" name="Text 9"/>
          <p:cNvSpPr txBox="1"/>
          <p:nvPr/>
        </p:nvSpPr>
        <p:spPr>
          <a:xfrm>
            <a:off x="1371600" y="4200754"/>
            <a:ext cx="3076956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A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core language</a:t>
            </a:r>
            <a:endParaRPr lang="en-US" sz="1200" dirty="0"/>
          </a:p>
        </p:txBody>
      </p:sp>
      <p:sp>
        <p:nvSpPr>
          <p:cNvPr id="16" name="Shape 10"/>
          <p:cNvSpPr/>
          <p:nvPr/>
        </p:nvSpPr>
        <p:spPr>
          <a:xfrm>
            <a:off x="4848149" y="3619195"/>
            <a:ext cx="3534156" cy="1019556"/>
          </a:xfrm>
          <a:prstGeom prst="rect">
            <a:avLst/>
          </a:prstGeom>
          <a:solidFill>
            <a:srgbClr val="F4F6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17" name="Text 11"/>
          <p:cNvSpPr txBox="1"/>
          <p:nvPr/>
        </p:nvSpPr>
        <p:spPr>
          <a:xfrm>
            <a:off x="5076749" y="3847795"/>
            <a:ext cx="3076956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B2A4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espeak‑ng</a:t>
            </a:r>
            <a:endParaRPr lang="en-US" sz="1800" dirty="0"/>
          </a:p>
        </p:txBody>
      </p:sp>
      <p:sp>
        <p:nvSpPr>
          <p:cNvPr id="18" name="Text 12"/>
          <p:cNvSpPr txBox="1"/>
          <p:nvPr/>
        </p:nvSpPr>
        <p:spPr>
          <a:xfrm>
            <a:off x="5076749" y="4219956"/>
            <a:ext cx="3076956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A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waveform synthesiser</a:t>
            </a:r>
            <a:endParaRPr lang="en-US" sz="1200" dirty="0"/>
          </a:p>
        </p:txBody>
      </p:sp>
      <p:sp>
        <p:nvSpPr>
          <p:cNvPr id="19" name="Shape 13"/>
          <p:cNvSpPr/>
          <p:nvPr/>
        </p:nvSpPr>
        <p:spPr>
          <a:xfrm>
            <a:off x="1143000" y="4809744"/>
            <a:ext cx="3534156" cy="1000354"/>
          </a:xfrm>
          <a:prstGeom prst="rect">
            <a:avLst/>
          </a:prstGeom>
          <a:solidFill>
            <a:srgbClr val="F4F6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20" name="Text 14"/>
          <p:cNvSpPr txBox="1"/>
          <p:nvPr/>
        </p:nvSpPr>
        <p:spPr>
          <a:xfrm>
            <a:off x="1371600" y="5038344"/>
            <a:ext cx="3076956" cy="2953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B2A4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 · json</a:t>
            </a:r>
            <a:endParaRPr lang="en-US" sz="1800" dirty="0"/>
          </a:p>
        </p:txBody>
      </p:sp>
      <p:sp>
        <p:nvSpPr>
          <p:cNvPr id="21" name="Text 15"/>
          <p:cNvSpPr txBox="1"/>
          <p:nvPr/>
        </p:nvSpPr>
        <p:spPr>
          <a:xfrm>
            <a:off x="1371600" y="5391302"/>
            <a:ext cx="3076956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A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rule engine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4848149" y="4809744"/>
            <a:ext cx="3534156" cy="1000354"/>
          </a:xfrm>
          <a:prstGeom prst="rect">
            <a:avLst/>
          </a:prstGeom>
          <a:solidFill>
            <a:srgbClr val="F4F6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23" name="Text 17"/>
          <p:cNvSpPr txBox="1"/>
          <p:nvPr/>
        </p:nvSpPr>
        <p:spPr>
          <a:xfrm>
            <a:off x="5076749" y="5038344"/>
            <a:ext cx="3076956" cy="2953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B2A4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dataclasses</a:t>
            </a:r>
            <a:endParaRPr lang="en-US" sz="1800" dirty="0"/>
          </a:p>
        </p:txBody>
      </p:sp>
      <p:sp>
        <p:nvSpPr>
          <p:cNvPr id="24" name="Text 18"/>
          <p:cNvSpPr txBox="1"/>
          <p:nvPr/>
        </p:nvSpPr>
        <p:spPr>
          <a:xfrm>
            <a:off x="5076749" y="5391302"/>
            <a:ext cx="3076956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A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linguistic units</a:t>
            </a:r>
            <a:endParaRPr lang="en-US" sz="1200" dirty="0"/>
          </a:p>
        </p:txBody>
      </p:sp>
      <p:sp>
        <p:nvSpPr>
          <p:cNvPr id="25" name="Shape 19"/>
          <p:cNvSpPr/>
          <p:nvPr/>
        </p:nvSpPr>
        <p:spPr>
          <a:xfrm>
            <a:off x="1143000" y="5982005"/>
            <a:ext cx="3534156" cy="1000354"/>
          </a:xfrm>
          <a:prstGeom prst="rect">
            <a:avLst/>
          </a:prstGeom>
          <a:solidFill>
            <a:srgbClr val="F4F6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26" name="Text 20"/>
          <p:cNvSpPr txBox="1"/>
          <p:nvPr/>
        </p:nvSpPr>
        <p:spPr>
          <a:xfrm>
            <a:off x="1371600" y="6210605"/>
            <a:ext cx="3076956" cy="2953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B2A4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subprocess</a:t>
            </a:r>
            <a:endParaRPr lang="en-US" sz="1800" dirty="0"/>
          </a:p>
        </p:txBody>
      </p:sp>
      <p:sp>
        <p:nvSpPr>
          <p:cNvPr id="27" name="Text 21"/>
          <p:cNvSpPr txBox="1"/>
          <p:nvPr/>
        </p:nvSpPr>
        <p:spPr>
          <a:xfrm>
            <a:off x="1371600" y="6562649"/>
            <a:ext cx="3076956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A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talks to the synthesiser</a:t>
            </a:r>
            <a:endParaRPr lang="en-US" sz="1200" dirty="0"/>
          </a:p>
        </p:txBody>
      </p:sp>
      <p:sp>
        <p:nvSpPr>
          <p:cNvPr id="28" name="Shape 22"/>
          <p:cNvSpPr/>
          <p:nvPr/>
        </p:nvSpPr>
        <p:spPr>
          <a:xfrm>
            <a:off x="4848149" y="5982005"/>
            <a:ext cx="3534156" cy="1000354"/>
          </a:xfrm>
          <a:prstGeom prst="rect">
            <a:avLst/>
          </a:prstGeom>
          <a:solidFill>
            <a:srgbClr val="F4F6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29" name="Text 23"/>
          <p:cNvSpPr txBox="1"/>
          <p:nvPr/>
        </p:nvSpPr>
        <p:spPr>
          <a:xfrm>
            <a:off x="5076749" y="6210605"/>
            <a:ext cx="3076956" cy="2953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B2A4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pytest · numpy</a:t>
            </a:r>
            <a:endParaRPr lang="en-US" sz="1800" dirty="0"/>
          </a:p>
        </p:txBody>
      </p:sp>
      <p:sp>
        <p:nvSpPr>
          <p:cNvPr id="30" name="Text 24"/>
          <p:cNvSpPr txBox="1"/>
          <p:nvPr/>
        </p:nvSpPr>
        <p:spPr>
          <a:xfrm>
            <a:off x="5076749" y="6562649"/>
            <a:ext cx="3076956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A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tests and DSP (optional)</a:t>
            </a:r>
            <a:endParaRPr lang="en-US" sz="1200" dirty="0"/>
          </a:p>
        </p:txBody>
      </p:sp>
      <p:sp>
        <p:nvSpPr>
          <p:cNvPr id="31" name="Text 25"/>
          <p:cNvSpPr txBox="1"/>
          <p:nvPr/>
        </p:nvSpPr>
        <p:spPr>
          <a:xfrm>
            <a:off x="9048902" y="2857500"/>
            <a:ext cx="8097012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25" dirty="0">
                <a:solidFill>
                  <a:srgbClr val="1F5A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RULE BASE — 4 JSON FILES</a:t>
            </a:r>
            <a:endParaRPr lang="en-US" sz="1000" dirty="0"/>
          </a:p>
        </p:txBody>
      </p:sp>
      <p:sp>
        <p:nvSpPr>
          <p:cNvPr id="32" name="Shape 26"/>
          <p:cNvSpPr/>
          <p:nvPr/>
        </p:nvSpPr>
        <p:spPr>
          <a:xfrm>
            <a:off x="9048902" y="4496105"/>
            <a:ext cx="8096098" cy="9144"/>
          </a:xfrm>
          <a:prstGeom prst="rect">
            <a:avLst/>
          </a:prstGeom>
          <a:solidFill>
            <a:srgbClr val="D8DEE6"/>
          </a:solidFill>
          <a:ln w="12700">
            <a:solidFill>
              <a:srgbClr val="D8DEE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33" name="Text 27"/>
          <p:cNvSpPr txBox="1"/>
          <p:nvPr/>
        </p:nvSpPr>
        <p:spPr>
          <a:xfrm>
            <a:off x="8981316" y="3629549"/>
            <a:ext cx="8097012" cy="70500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C9A227"/>
                </a:solidFill>
                <a:latin typeface="var(--mono)" pitchFamily="34" charset="0"/>
                <a:ea typeface="var(--mono)" pitchFamily="34" charset="-122"/>
                <a:cs typeface="var(--mono)" pitchFamily="34" charset="-120"/>
              </a:rPr>
              <a:t>g2p_rules.json </a:t>
            </a:r>
            <a:r>
              <a:rPr lang="en-US" sz="1500" dirty="0">
                <a:solidFill>
                  <a:srgbClr val="2B3A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Grapheme → phoneme maps, contextual exceptions (palatalisation, ğ allophony, devoicing).</a:t>
            </a:r>
            <a:endParaRPr lang="en-US" sz="1200" dirty="0"/>
          </a:p>
        </p:txBody>
      </p:sp>
      <p:sp>
        <p:nvSpPr>
          <p:cNvPr id="34" name="Shape 28"/>
          <p:cNvSpPr/>
          <p:nvPr/>
        </p:nvSpPr>
        <p:spPr>
          <a:xfrm>
            <a:off x="9048902" y="5382158"/>
            <a:ext cx="8096098" cy="9144"/>
          </a:xfrm>
          <a:prstGeom prst="rect">
            <a:avLst/>
          </a:prstGeom>
          <a:solidFill>
            <a:srgbClr val="D8DEE6"/>
          </a:solidFill>
          <a:ln w="12700">
            <a:solidFill>
              <a:srgbClr val="D8DEE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35" name="Text 29"/>
          <p:cNvSpPr txBox="1"/>
          <p:nvPr/>
        </p:nvSpPr>
        <p:spPr>
          <a:xfrm>
            <a:off x="8962035" y="4515602"/>
            <a:ext cx="8097012" cy="70500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buNone/>
            </a:pPr>
            <a:r>
              <a:rPr lang="en-US" sz="1300" b="1" dirty="0" err="1">
                <a:solidFill>
                  <a:srgbClr val="C9A227"/>
                </a:solidFill>
                <a:latin typeface="var(--mono)" pitchFamily="34" charset="0"/>
                <a:ea typeface="var(--mono)" pitchFamily="34" charset="-122"/>
                <a:cs typeface="var(--mono)" pitchFamily="34" charset="-120"/>
              </a:rPr>
              <a:t>stress_rules.json</a:t>
            </a:r>
            <a:r>
              <a:rPr lang="en-US" sz="1300" b="1" dirty="0">
                <a:solidFill>
                  <a:srgbClr val="C9A227"/>
                </a:solidFill>
                <a:latin typeface="var(--mono)" pitchFamily="34" charset="0"/>
                <a:ea typeface="var(--mono)" pitchFamily="34" charset="-122"/>
                <a:cs typeface="var(--mono)" pitchFamily="34" charset="-120"/>
              </a:rPr>
              <a:t> </a:t>
            </a:r>
            <a:r>
              <a:rPr lang="en-US" sz="1500" dirty="0">
                <a:solidFill>
                  <a:srgbClr val="2B3A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4-level priority hierarchy: negation, clitics, auxiliaries, default final syllable.</a:t>
            </a:r>
            <a:endParaRPr lang="en-US" sz="1200" dirty="0"/>
          </a:p>
        </p:txBody>
      </p:sp>
      <p:sp>
        <p:nvSpPr>
          <p:cNvPr id="36" name="Shape 30"/>
          <p:cNvSpPr/>
          <p:nvPr/>
        </p:nvSpPr>
        <p:spPr>
          <a:xfrm>
            <a:off x="9048902" y="6268212"/>
            <a:ext cx="8096098" cy="9144"/>
          </a:xfrm>
          <a:prstGeom prst="rect">
            <a:avLst/>
          </a:prstGeom>
          <a:solidFill>
            <a:srgbClr val="D8DEE6"/>
          </a:solidFill>
          <a:ln w="12700">
            <a:solidFill>
              <a:srgbClr val="D8DEE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37" name="Text 31"/>
          <p:cNvSpPr txBox="1"/>
          <p:nvPr/>
        </p:nvSpPr>
        <p:spPr>
          <a:xfrm>
            <a:off x="8962035" y="5468112"/>
            <a:ext cx="8097012" cy="70500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buNone/>
            </a:pPr>
            <a:r>
              <a:rPr lang="en-US" sz="1300" b="1" dirty="0" err="1">
                <a:solidFill>
                  <a:srgbClr val="C9A227"/>
                </a:solidFill>
                <a:latin typeface="var(--mono)" pitchFamily="34" charset="0"/>
                <a:ea typeface="var(--mono)" pitchFamily="34" charset="-122"/>
                <a:cs typeface="var(--mono)" pitchFamily="34" charset="-120"/>
              </a:rPr>
              <a:t>prosody_rules.json</a:t>
            </a:r>
            <a:r>
              <a:rPr lang="en-US" sz="1300" b="1" dirty="0">
                <a:solidFill>
                  <a:srgbClr val="C9A227"/>
                </a:solidFill>
                <a:latin typeface="var(--mono)" pitchFamily="34" charset="0"/>
                <a:ea typeface="var(--mono)" pitchFamily="34" charset="-122"/>
                <a:cs typeface="var(--mono)" pitchFamily="34" charset="-120"/>
              </a:rPr>
              <a:t> </a:t>
            </a:r>
            <a:r>
              <a:rPr lang="en-US" sz="1500" dirty="0" err="1">
                <a:solidFill>
                  <a:srgbClr val="2B3A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ToBI</a:t>
            </a:r>
            <a:r>
              <a:rPr lang="en-US" sz="1500" dirty="0">
                <a:solidFill>
                  <a:srgbClr val="2B3A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-based F0 contours, duration and pause parameters for the 5 sentence types.</a:t>
            </a:r>
            <a:endParaRPr lang="en-US" sz="1200" dirty="0"/>
          </a:p>
        </p:txBody>
      </p:sp>
      <p:sp>
        <p:nvSpPr>
          <p:cNvPr id="38" name="Text 32"/>
          <p:cNvSpPr txBox="1"/>
          <p:nvPr/>
        </p:nvSpPr>
        <p:spPr>
          <a:xfrm>
            <a:off x="9139428" y="6292601"/>
            <a:ext cx="8097012" cy="8769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 err="1">
                <a:solidFill>
                  <a:srgbClr val="C9A227"/>
                </a:solidFill>
                <a:latin typeface="var(--mono)" pitchFamily="34" charset="0"/>
                <a:ea typeface="var(--mono)" pitchFamily="34" charset="-122"/>
                <a:cs typeface="var(--mono)" pitchFamily="34" charset="-120"/>
              </a:rPr>
              <a:t>text_norm_rules.json</a:t>
            </a:r>
            <a:r>
              <a:rPr lang="en-US" sz="1300" b="1" dirty="0">
                <a:solidFill>
                  <a:srgbClr val="C9A227"/>
                </a:solidFill>
                <a:latin typeface="var(--mono)" pitchFamily="34" charset="0"/>
                <a:ea typeface="var(--mono)" pitchFamily="34" charset="-122"/>
                <a:cs typeface="var(--mono)" pitchFamily="34" charset="-120"/>
              </a:rPr>
              <a:t> </a:t>
            </a:r>
            <a:r>
              <a:rPr lang="en-US" sz="1500" dirty="0">
                <a:solidFill>
                  <a:srgbClr val="2B3A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Spelled-out forms for dates, time, numbers, Roman numerals and abbreviations.</a:t>
            </a:r>
            <a:endParaRPr lang="en-US" sz="1200" dirty="0"/>
          </a:p>
        </p:txBody>
      </p:sp>
      <p:sp>
        <p:nvSpPr>
          <p:cNvPr id="39" name="Text 33"/>
          <p:cNvSpPr txBox="1"/>
          <p:nvPr/>
        </p:nvSpPr>
        <p:spPr>
          <a:xfrm>
            <a:off x="9334195" y="8553298"/>
            <a:ext cx="3631082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kern="0" spc="1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RULES LIVE OUTSIDE THE CODE →</a:t>
            </a:r>
            <a:endParaRPr lang="en-US" sz="1300" dirty="0"/>
          </a:p>
        </p:txBody>
      </p:sp>
      <p:sp>
        <p:nvSpPr>
          <p:cNvPr id="40" name="Text 34"/>
          <p:cNvSpPr txBox="1"/>
          <p:nvPr/>
        </p:nvSpPr>
        <p:spPr>
          <a:xfrm>
            <a:off x="14522501" y="8515807"/>
            <a:ext cx="2788920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00" i="1" dirty="0">
                <a:solidFill>
                  <a:srgbClr val="C9A227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a linguist can edit them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4" name="Shape 2"/>
          <p:cNvSpPr/>
          <p:nvPr/>
        </p:nvSpPr>
        <p:spPr>
          <a:xfrm>
            <a:off x="1143000" y="2857500"/>
            <a:ext cx="3810305" cy="2723998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lstStyle/>
          <a:p>
            <a:endParaRPr lang="en-AZ"/>
          </a:p>
        </p:txBody>
      </p:sp>
      <p:sp>
        <p:nvSpPr>
          <p:cNvPr id="5" name="Shape 3"/>
          <p:cNvSpPr/>
          <p:nvPr/>
        </p:nvSpPr>
        <p:spPr>
          <a:xfrm>
            <a:off x="1143000" y="2857500"/>
            <a:ext cx="3810305" cy="57607"/>
          </a:xfrm>
          <a:prstGeom prst="rect">
            <a:avLst/>
          </a:prstGeom>
          <a:solidFill>
            <a:srgbClr val="0B2A4A"/>
          </a:solidFill>
          <a:ln w="12700">
            <a:solidFill>
              <a:srgbClr val="0B2A4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6" name="Shape 4"/>
          <p:cNvSpPr/>
          <p:nvPr/>
        </p:nvSpPr>
        <p:spPr>
          <a:xfrm>
            <a:off x="5143500" y="2857500"/>
            <a:ext cx="3810305" cy="2723998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lstStyle/>
          <a:p>
            <a:endParaRPr lang="en-AZ"/>
          </a:p>
        </p:txBody>
      </p:sp>
      <p:sp>
        <p:nvSpPr>
          <p:cNvPr id="7" name="Shape 5"/>
          <p:cNvSpPr/>
          <p:nvPr/>
        </p:nvSpPr>
        <p:spPr>
          <a:xfrm>
            <a:off x="5143500" y="2857500"/>
            <a:ext cx="3810305" cy="57607"/>
          </a:xfrm>
          <a:prstGeom prst="rect">
            <a:avLst/>
          </a:prstGeom>
          <a:solidFill>
            <a:srgbClr val="1F5AA6"/>
          </a:solidFill>
          <a:ln w="12700">
            <a:solidFill>
              <a:srgbClr val="1F5AA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8" name="Shape 6"/>
          <p:cNvSpPr/>
          <p:nvPr/>
        </p:nvSpPr>
        <p:spPr>
          <a:xfrm>
            <a:off x="9144000" y="2857500"/>
            <a:ext cx="3810305" cy="2723998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lstStyle/>
          <a:p>
            <a:endParaRPr lang="en-AZ"/>
          </a:p>
        </p:txBody>
      </p:sp>
      <p:sp>
        <p:nvSpPr>
          <p:cNvPr id="9" name="Shape 7"/>
          <p:cNvSpPr/>
          <p:nvPr/>
        </p:nvSpPr>
        <p:spPr>
          <a:xfrm>
            <a:off x="9144000" y="2857500"/>
            <a:ext cx="3810305" cy="57607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10" name="Shape 8"/>
          <p:cNvSpPr/>
          <p:nvPr/>
        </p:nvSpPr>
        <p:spPr>
          <a:xfrm>
            <a:off x="13144500" y="2857500"/>
            <a:ext cx="4000500" cy="2667305"/>
          </a:xfrm>
          <a:prstGeom prst="rect">
            <a:avLst/>
          </a:prstGeom>
          <a:solidFill>
            <a:srgbClr val="0B2A4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11" name="Shape 9"/>
          <p:cNvSpPr/>
          <p:nvPr/>
        </p:nvSpPr>
        <p:spPr>
          <a:xfrm>
            <a:off x="1143000" y="6858000"/>
            <a:ext cx="8020202" cy="2686507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12" name="Shape 10"/>
          <p:cNvSpPr/>
          <p:nvPr/>
        </p:nvSpPr>
        <p:spPr>
          <a:xfrm>
            <a:off x="9334195" y="6858000"/>
            <a:ext cx="7830007" cy="2686507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pic>
        <p:nvPicPr>
          <p:cNvPr id="13" name="Image 0" descr="gen-dedup-cfc304a6ff6b7471c886aeceb308770f.png"/>
          <p:cNvPicPr>
            <a:picLocks noChangeAspect="1"/>
          </p:cNvPicPr>
          <p:nvPr/>
        </p:nvPicPr>
        <p:blipFill>
          <a:blip r:embed="rId3"/>
          <a:srcRect t="-420" b="-420"/>
          <a:stretch/>
        </p:blipFill>
        <p:spPr>
          <a:xfrm>
            <a:off x="1143000" y="761695"/>
            <a:ext cx="761695" cy="38405"/>
          </a:xfrm>
          <a:prstGeom prst="rect">
            <a:avLst/>
          </a:prstGeom>
        </p:spPr>
      </p:pic>
      <p:pic>
        <p:nvPicPr>
          <p:cNvPr id="14" name="Image 1" descr="gen-dedup-46f4bd2834ede443b0a4350605eb85f0.png"/>
          <p:cNvPicPr>
            <a:picLocks noChangeAspect="1"/>
          </p:cNvPicPr>
          <p:nvPr/>
        </p:nvPicPr>
        <p:blipFill>
          <a:blip r:embed="rId4"/>
          <a:srcRect l="-385" r="-385"/>
          <a:stretch/>
        </p:blipFill>
        <p:spPr>
          <a:xfrm>
            <a:off x="1143000" y="6476695"/>
            <a:ext cx="761695" cy="28346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143000" y="952805"/>
            <a:ext cx="571500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1F5A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 · EVALUATION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1143000" y="1429207"/>
            <a:ext cx="14287500" cy="685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100" b="1" kern="0" spc="-75" dirty="0">
                <a:solidFill>
                  <a:srgbClr val="0B2A4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Experimental methodology</a:t>
            </a:r>
            <a:endParaRPr lang="en-US" sz="5100" dirty="0"/>
          </a:p>
        </p:txBody>
      </p:sp>
      <p:sp>
        <p:nvSpPr>
          <p:cNvPr id="17" name="Text 13"/>
          <p:cNvSpPr txBox="1"/>
          <p:nvPr/>
        </p:nvSpPr>
        <p:spPr>
          <a:xfrm>
            <a:off x="16573500" y="9715500"/>
            <a:ext cx="762610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000" kern="0" spc="150" dirty="0">
                <a:solidFill>
                  <a:srgbClr val="6A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 / 16</a:t>
            </a:r>
            <a:endParaRPr lang="en-US" sz="1000" dirty="0"/>
          </a:p>
        </p:txBody>
      </p:sp>
      <p:sp>
        <p:nvSpPr>
          <p:cNvPr id="18" name="Text 14"/>
          <p:cNvSpPr txBox="1"/>
          <p:nvPr/>
        </p:nvSpPr>
        <p:spPr>
          <a:xfrm>
            <a:off x="1429207" y="3143707"/>
            <a:ext cx="3238805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25" dirty="0">
                <a:solidFill>
                  <a:srgbClr val="6A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</a:t>
            </a:r>
            <a:endParaRPr lang="en-US" sz="1000" dirty="0"/>
          </a:p>
        </p:txBody>
      </p:sp>
      <p:sp>
        <p:nvSpPr>
          <p:cNvPr id="19" name="Text 15"/>
          <p:cNvSpPr txBox="1"/>
          <p:nvPr/>
        </p:nvSpPr>
        <p:spPr>
          <a:xfrm>
            <a:off x="1429207" y="3438144"/>
            <a:ext cx="3238805" cy="914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0B2A4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50</a:t>
            </a:r>
            <a:endParaRPr lang="en-US" sz="7200" dirty="0"/>
          </a:p>
        </p:txBody>
      </p:sp>
      <p:sp>
        <p:nvSpPr>
          <p:cNvPr id="20" name="Text 16"/>
          <p:cNvSpPr txBox="1"/>
          <p:nvPr/>
        </p:nvSpPr>
        <p:spPr>
          <a:xfrm>
            <a:off x="1429207" y="4486046"/>
            <a:ext cx="3238805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E17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phonetically balanced sentences</a:t>
            </a:r>
            <a:endParaRPr lang="en-US" sz="1600" dirty="0"/>
          </a:p>
        </p:txBody>
      </p:sp>
      <p:sp>
        <p:nvSpPr>
          <p:cNvPr id="21" name="Text 17"/>
          <p:cNvSpPr txBox="1"/>
          <p:nvPr/>
        </p:nvSpPr>
        <p:spPr>
          <a:xfrm>
            <a:off x="1429207" y="5057546"/>
            <a:ext cx="3238805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2B3A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Covering all 32 letters and both stress regimes.</a:t>
            </a:r>
            <a:endParaRPr lang="en-US" sz="1300" dirty="0"/>
          </a:p>
        </p:txBody>
      </p:sp>
      <p:sp>
        <p:nvSpPr>
          <p:cNvPr id="22" name="Text 18"/>
          <p:cNvSpPr txBox="1"/>
          <p:nvPr/>
        </p:nvSpPr>
        <p:spPr>
          <a:xfrm>
            <a:off x="5429707" y="3143707"/>
            <a:ext cx="3238805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25" dirty="0">
                <a:solidFill>
                  <a:srgbClr val="6A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PARTICIPANTS</a:t>
            </a:r>
            <a:endParaRPr lang="en-US" sz="1000" dirty="0"/>
          </a:p>
        </p:txBody>
      </p:sp>
      <p:sp>
        <p:nvSpPr>
          <p:cNvPr id="23" name="Text 19"/>
          <p:cNvSpPr txBox="1"/>
          <p:nvPr/>
        </p:nvSpPr>
        <p:spPr>
          <a:xfrm>
            <a:off x="5429707" y="3438144"/>
            <a:ext cx="3238805" cy="914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1F5AA6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5</a:t>
            </a:r>
            <a:endParaRPr lang="en-US" sz="7200" dirty="0"/>
          </a:p>
        </p:txBody>
      </p:sp>
      <p:sp>
        <p:nvSpPr>
          <p:cNvPr id="24" name="Text 20"/>
          <p:cNvSpPr txBox="1"/>
          <p:nvPr/>
        </p:nvSpPr>
        <p:spPr>
          <a:xfrm>
            <a:off x="5429707" y="4486046"/>
            <a:ext cx="3752698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E17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native Azerbaijani listeners</a:t>
            </a:r>
            <a:endParaRPr lang="en-US" sz="1600" dirty="0"/>
          </a:p>
        </p:txBody>
      </p:sp>
      <p:sp>
        <p:nvSpPr>
          <p:cNvPr id="25" name="Text 21"/>
          <p:cNvSpPr txBox="1"/>
          <p:nvPr/>
        </p:nvSpPr>
        <p:spPr>
          <a:xfrm>
            <a:off x="5429707" y="4809744"/>
            <a:ext cx="3611880" cy="2578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2B3A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 range 22–48 · higher education</a:t>
            </a:r>
            <a:endParaRPr lang="en-US" sz="1300" dirty="0"/>
          </a:p>
        </p:txBody>
      </p:sp>
      <p:sp>
        <p:nvSpPr>
          <p:cNvPr id="26" name="Text 22"/>
          <p:cNvSpPr txBox="1"/>
          <p:nvPr/>
        </p:nvSpPr>
        <p:spPr>
          <a:xfrm>
            <a:off x="9430207" y="3143707"/>
            <a:ext cx="3238805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25" dirty="0">
                <a:solidFill>
                  <a:srgbClr val="6A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UNIT TESTS</a:t>
            </a:r>
            <a:endParaRPr lang="en-US" sz="1000" dirty="0"/>
          </a:p>
        </p:txBody>
      </p:sp>
      <p:sp>
        <p:nvSpPr>
          <p:cNvPr id="27" name="Text 23"/>
          <p:cNvSpPr txBox="1"/>
          <p:nvPr/>
        </p:nvSpPr>
        <p:spPr>
          <a:xfrm>
            <a:off x="9430207" y="3438144"/>
            <a:ext cx="3238805" cy="914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A8841C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156</a:t>
            </a:r>
            <a:endParaRPr lang="en-US" sz="7200" dirty="0"/>
          </a:p>
        </p:txBody>
      </p:sp>
      <p:sp>
        <p:nvSpPr>
          <p:cNvPr id="28" name="Text 24"/>
          <p:cNvSpPr txBox="1"/>
          <p:nvPr/>
        </p:nvSpPr>
        <p:spPr>
          <a:xfrm>
            <a:off x="9430207" y="4486046"/>
            <a:ext cx="3238805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E17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automated unit tests</a:t>
            </a:r>
            <a:endParaRPr lang="en-US" sz="1600" dirty="0"/>
          </a:p>
        </p:txBody>
      </p:sp>
      <p:sp>
        <p:nvSpPr>
          <p:cNvPr id="29" name="Text 25"/>
          <p:cNvSpPr txBox="1"/>
          <p:nvPr/>
        </p:nvSpPr>
        <p:spPr>
          <a:xfrm>
            <a:off x="9430207" y="4809744"/>
            <a:ext cx="3509467" cy="2578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2B3A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Covering 61 linguistic phenomena.</a:t>
            </a:r>
            <a:endParaRPr lang="en-US" sz="1300" dirty="0"/>
          </a:p>
        </p:txBody>
      </p:sp>
      <p:sp>
        <p:nvSpPr>
          <p:cNvPr id="30" name="Text 26"/>
          <p:cNvSpPr txBox="1"/>
          <p:nvPr/>
        </p:nvSpPr>
        <p:spPr>
          <a:xfrm>
            <a:off x="13430707" y="3143707"/>
            <a:ext cx="3429000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25" dirty="0">
                <a:solidFill>
                  <a:srgbClr val="C9A2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BASELINE</a:t>
            </a:r>
            <a:endParaRPr lang="en-US" sz="1000" dirty="0"/>
          </a:p>
        </p:txBody>
      </p:sp>
      <p:sp>
        <p:nvSpPr>
          <p:cNvPr id="31" name="Text 27"/>
          <p:cNvSpPr txBox="1"/>
          <p:nvPr/>
        </p:nvSpPr>
        <p:spPr>
          <a:xfrm>
            <a:off x="13430707" y="3438144"/>
            <a:ext cx="342900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500" b="1" dirty="0">
                <a:solidFill>
                  <a:srgbClr val="FFFFFF"/>
                </a:solidFill>
                <a:latin typeface="var(--serif)" pitchFamily="34" charset="0"/>
                <a:ea typeface="var(--serif)" pitchFamily="34" charset="-122"/>
                <a:cs typeface="var(--serif)" pitchFamily="34" charset="-120"/>
              </a:rPr>
              <a:t>espeak‑ng</a:t>
            </a:r>
            <a:endParaRPr lang="en-US" sz="4500" dirty="0"/>
          </a:p>
          <a:p>
            <a:pPr marL="0" indent="0" algn="l">
              <a:buNone/>
            </a:pPr>
            <a:r>
              <a:rPr lang="en-US" sz="1800" b="1" dirty="0">
                <a:solidFill>
                  <a:srgbClr val="9FB4D1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(plain, no rules)</a:t>
            </a:r>
            <a:endParaRPr lang="en-US" sz="4500" dirty="0"/>
          </a:p>
        </p:txBody>
      </p:sp>
      <p:sp>
        <p:nvSpPr>
          <p:cNvPr id="32" name="Text 28"/>
          <p:cNvSpPr txBox="1"/>
          <p:nvPr/>
        </p:nvSpPr>
        <p:spPr>
          <a:xfrm>
            <a:off x="13430707" y="4867351"/>
            <a:ext cx="3429000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C7D3E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same waveform synthesiser, but without the dedicated rule base attached.</a:t>
            </a:r>
            <a:endParaRPr lang="en-US" sz="1300" dirty="0"/>
          </a:p>
        </p:txBody>
      </p:sp>
      <p:sp>
        <p:nvSpPr>
          <p:cNvPr id="33" name="Text 29"/>
          <p:cNvSpPr txBox="1"/>
          <p:nvPr/>
        </p:nvSpPr>
        <p:spPr>
          <a:xfrm>
            <a:off x="1143000" y="6096305"/>
            <a:ext cx="16002000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25" dirty="0">
                <a:solidFill>
                  <a:srgbClr val="1F5A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METRICS</a:t>
            </a:r>
            <a:endParaRPr lang="en-US" sz="1000" dirty="0"/>
          </a:p>
        </p:txBody>
      </p:sp>
      <p:sp>
        <p:nvSpPr>
          <p:cNvPr id="34" name="Text 30"/>
          <p:cNvSpPr txBox="1"/>
          <p:nvPr/>
        </p:nvSpPr>
        <p:spPr>
          <a:xfrm>
            <a:off x="1429207" y="7086600"/>
            <a:ext cx="829361" cy="6007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B2A4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MOS</a:t>
            </a:r>
            <a:endParaRPr lang="en-US" sz="3600" dirty="0"/>
          </a:p>
        </p:txBody>
      </p:sp>
      <p:sp>
        <p:nvSpPr>
          <p:cNvPr id="35" name="Text 31"/>
          <p:cNvSpPr txBox="1"/>
          <p:nvPr/>
        </p:nvSpPr>
        <p:spPr>
          <a:xfrm>
            <a:off x="2423160" y="7372807"/>
            <a:ext cx="246705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kern="0" spc="150" dirty="0">
                <a:solidFill>
                  <a:srgbClr val="6A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MEAN OPINION SCORE</a:t>
            </a:r>
            <a:endParaRPr lang="en-US" sz="1500" dirty="0"/>
          </a:p>
        </p:txBody>
      </p:sp>
      <p:sp>
        <p:nvSpPr>
          <p:cNvPr id="36" name="Text 32"/>
          <p:cNvSpPr txBox="1"/>
          <p:nvPr/>
        </p:nvSpPr>
        <p:spPr>
          <a:xfrm>
            <a:off x="1429207" y="7858354"/>
            <a:ext cx="8115300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0E17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measure of </a:t>
            </a:r>
            <a:r>
              <a:rPr lang="en-US" sz="1600" b="1" dirty="0">
                <a:solidFill>
                  <a:srgbClr val="C9A2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naturalness</a:t>
            </a:r>
            <a:r>
              <a:rPr lang="en-US" sz="1600" dirty="0">
                <a:solidFill>
                  <a:srgbClr val="0E17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 Listeners rate the audio on a 1–5 scale.</a:t>
            </a:r>
            <a:endParaRPr lang="en-US" sz="1600" dirty="0"/>
          </a:p>
        </p:txBody>
      </p:sp>
      <p:sp>
        <p:nvSpPr>
          <p:cNvPr id="37" name="Text 33"/>
          <p:cNvSpPr txBox="1"/>
          <p:nvPr/>
        </p:nvSpPr>
        <p:spPr>
          <a:xfrm>
            <a:off x="1429207" y="8305495"/>
            <a:ext cx="7932420" cy="2578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2B3A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sentence is presented blind for both systems with the order randomised.</a:t>
            </a:r>
            <a:endParaRPr lang="en-US" sz="1300" dirty="0"/>
          </a:p>
        </p:txBody>
      </p:sp>
      <p:sp>
        <p:nvSpPr>
          <p:cNvPr id="38" name="Text 34"/>
          <p:cNvSpPr txBox="1"/>
          <p:nvPr/>
        </p:nvSpPr>
        <p:spPr>
          <a:xfrm>
            <a:off x="9620402" y="7086600"/>
            <a:ext cx="829361" cy="6007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B2A4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WER</a:t>
            </a:r>
            <a:endParaRPr lang="en-US" sz="3600" dirty="0"/>
          </a:p>
        </p:txBody>
      </p:sp>
      <p:sp>
        <p:nvSpPr>
          <p:cNvPr id="39" name="Text 35"/>
          <p:cNvSpPr txBox="1"/>
          <p:nvPr/>
        </p:nvSpPr>
        <p:spPr>
          <a:xfrm>
            <a:off x="10614355" y="7372807"/>
            <a:ext cx="20958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kern="0" spc="150" dirty="0">
                <a:solidFill>
                  <a:srgbClr val="6A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WORD ERROR RATE</a:t>
            </a:r>
            <a:endParaRPr lang="en-US" sz="1500" dirty="0"/>
          </a:p>
        </p:txBody>
      </p:sp>
      <p:sp>
        <p:nvSpPr>
          <p:cNvPr id="40" name="Text 36"/>
          <p:cNvSpPr txBox="1"/>
          <p:nvPr/>
        </p:nvSpPr>
        <p:spPr>
          <a:xfrm>
            <a:off x="9620402" y="7858354"/>
            <a:ext cx="7239305" cy="6291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0E17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measure of </a:t>
            </a:r>
            <a:r>
              <a:rPr lang="en-US" sz="1600" b="1" dirty="0">
                <a:solidFill>
                  <a:srgbClr val="C9A2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intelligibility</a:t>
            </a:r>
            <a:r>
              <a:rPr lang="en-US" sz="1600" dirty="0">
                <a:solidFill>
                  <a:srgbClr val="0E17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 The listener transcribes what is heard; output is compared with the original text.</a:t>
            </a:r>
            <a:endParaRPr lang="en-US" sz="1600" dirty="0"/>
          </a:p>
        </p:txBody>
      </p:sp>
      <p:sp>
        <p:nvSpPr>
          <p:cNvPr id="41" name="Text 37"/>
          <p:cNvSpPr txBox="1"/>
          <p:nvPr/>
        </p:nvSpPr>
        <p:spPr>
          <a:xfrm>
            <a:off x="9620402" y="8620049"/>
            <a:ext cx="7624267" cy="2578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2B3A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Lower is better. Substitutions, deletions and insertions are all counted.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4" name="Shape 2"/>
          <p:cNvSpPr/>
          <p:nvPr/>
        </p:nvSpPr>
        <p:spPr>
          <a:xfrm>
            <a:off x="12573000" y="3047695"/>
            <a:ext cx="4572000" cy="5333695"/>
          </a:xfrm>
          <a:prstGeom prst="rect">
            <a:avLst/>
          </a:prstGeom>
          <a:solidFill>
            <a:srgbClr val="0B2A4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pic>
        <p:nvPicPr>
          <p:cNvPr id="5" name="Image 0" descr="gen-dedup-cfc304a6ff6b7471c886aeceb308770f.png"/>
          <p:cNvPicPr>
            <a:picLocks noChangeAspect="1"/>
          </p:cNvPicPr>
          <p:nvPr/>
        </p:nvPicPr>
        <p:blipFill>
          <a:blip r:embed="rId3"/>
          <a:srcRect t="-420" b="-420"/>
          <a:stretch/>
        </p:blipFill>
        <p:spPr>
          <a:xfrm>
            <a:off x="1143000" y="761695"/>
            <a:ext cx="761695" cy="38405"/>
          </a:xfrm>
          <a:prstGeom prst="rect">
            <a:avLst/>
          </a:prstGeom>
        </p:spPr>
      </p:pic>
      <p:pic>
        <p:nvPicPr>
          <p:cNvPr id="6" name="Image 1" descr="gen-dedup-6f7d439f1708d6b2c78fb4dcf548d03b.png"/>
          <p:cNvPicPr>
            <a:picLocks noChangeAspect="1"/>
          </p:cNvPicPr>
          <p:nvPr/>
        </p:nvPicPr>
        <p:blipFill>
          <a:blip r:embed="rId4"/>
          <a:srcRect l="-404" r="-404"/>
          <a:stretch/>
        </p:blipFill>
        <p:spPr>
          <a:xfrm>
            <a:off x="12954305" y="3715207"/>
            <a:ext cx="571500" cy="2834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143000" y="952805"/>
            <a:ext cx="571500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1F5A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 · EVALUATION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1143000" y="1429207"/>
            <a:ext cx="14287500" cy="685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100" b="1" kern="0" spc="-75" dirty="0">
                <a:solidFill>
                  <a:srgbClr val="0B2A4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Experimental results</a:t>
            </a:r>
            <a:endParaRPr lang="en-US" sz="5100" dirty="0"/>
          </a:p>
        </p:txBody>
      </p:sp>
      <p:sp>
        <p:nvSpPr>
          <p:cNvPr id="9" name="Text 5"/>
          <p:cNvSpPr txBox="1"/>
          <p:nvPr/>
        </p:nvSpPr>
        <p:spPr>
          <a:xfrm>
            <a:off x="1143000" y="2286000"/>
            <a:ext cx="14287500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i="1" dirty="0">
                <a:solidFill>
                  <a:srgbClr val="2B3A4D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The proposed system beats the baseline on both metrics.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16573500" y="9715500"/>
            <a:ext cx="762610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000" kern="0" spc="150" dirty="0">
                <a:solidFill>
                  <a:srgbClr val="6A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 / 16</a:t>
            </a:r>
            <a:endParaRPr lang="en-US" sz="1000" dirty="0"/>
          </a:p>
        </p:txBody>
      </p:sp>
      <p:sp>
        <p:nvSpPr>
          <p:cNvPr id="13" name="Text 7"/>
          <p:cNvSpPr txBox="1"/>
          <p:nvPr/>
        </p:nvSpPr>
        <p:spPr>
          <a:xfrm>
            <a:off x="12954305" y="3372307"/>
            <a:ext cx="3810305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25" dirty="0">
                <a:solidFill>
                  <a:srgbClr val="C9A2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OTHER INDICATORS</a:t>
            </a:r>
            <a:endParaRPr lang="en-US" sz="1000" dirty="0"/>
          </a:p>
        </p:txBody>
      </p:sp>
      <p:sp>
        <p:nvSpPr>
          <p:cNvPr id="14" name="Shape 8"/>
          <p:cNvSpPr/>
          <p:nvPr/>
        </p:nvSpPr>
        <p:spPr>
          <a:xfrm>
            <a:off x="12954305" y="5210251"/>
            <a:ext cx="3810305" cy="9144"/>
          </a:xfrm>
          <a:prstGeom prst="rect">
            <a:avLst/>
          </a:prstGeom>
          <a:solidFill>
            <a:srgbClr val="3A5778"/>
          </a:solidFill>
          <a:ln w="12700">
            <a:solidFill>
              <a:srgbClr val="3A577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15" name="Text 9"/>
          <p:cNvSpPr txBox="1"/>
          <p:nvPr/>
        </p:nvSpPr>
        <p:spPr>
          <a:xfrm>
            <a:off x="12954305" y="4172407"/>
            <a:ext cx="3810305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4500" b="1" dirty="0">
                <a:solidFill>
                  <a:srgbClr val="FFFFFF"/>
                </a:solidFill>
                <a:latin typeface="var(--serif)" pitchFamily="34" charset="0"/>
                <a:ea typeface="var(--serif)" pitchFamily="34" charset="-122"/>
                <a:cs typeface="var(--serif)" pitchFamily="34" charset="-120"/>
              </a:rPr>
              <a:t>97.2</a:t>
            </a:r>
            <a:r>
              <a:rPr lang="en-US" sz="2400" b="1" dirty="0">
                <a:solidFill>
                  <a:srgbClr val="FFFFFF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%</a:t>
            </a:r>
            <a:endParaRPr lang="en-US" sz="4500" dirty="0"/>
          </a:p>
        </p:txBody>
      </p:sp>
      <p:sp>
        <p:nvSpPr>
          <p:cNvPr id="16" name="Text 10"/>
          <p:cNvSpPr txBox="1"/>
          <p:nvPr/>
        </p:nvSpPr>
        <p:spPr>
          <a:xfrm>
            <a:off x="12954305" y="4839005"/>
            <a:ext cx="3810305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FB4D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overall text-normalisation accuracy</a:t>
            </a:r>
            <a:endParaRPr lang="en-US" sz="1300" dirty="0"/>
          </a:p>
        </p:txBody>
      </p:sp>
      <p:sp>
        <p:nvSpPr>
          <p:cNvPr id="17" name="Shape 11"/>
          <p:cNvSpPr/>
          <p:nvPr/>
        </p:nvSpPr>
        <p:spPr>
          <a:xfrm>
            <a:off x="12954305" y="6429146"/>
            <a:ext cx="3810305" cy="9144"/>
          </a:xfrm>
          <a:prstGeom prst="rect">
            <a:avLst/>
          </a:prstGeom>
          <a:solidFill>
            <a:srgbClr val="3A5778"/>
          </a:solidFill>
          <a:ln w="12700">
            <a:solidFill>
              <a:srgbClr val="3A577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18" name="Text 12"/>
          <p:cNvSpPr txBox="1"/>
          <p:nvPr/>
        </p:nvSpPr>
        <p:spPr>
          <a:xfrm>
            <a:off x="12954305" y="5391302"/>
            <a:ext cx="3810305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4500" b="1" dirty="0">
                <a:solidFill>
                  <a:srgbClr val="FFFFFF"/>
                </a:solidFill>
                <a:latin typeface="var(--serif)" pitchFamily="34" charset="0"/>
                <a:ea typeface="var(--serif)" pitchFamily="34" charset="-122"/>
                <a:cs typeface="var(--serif)" pitchFamily="34" charset="-120"/>
              </a:rPr>
              <a:t>100</a:t>
            </a:r>
            <a:r>
              <a:rPr lang="en-US" sz="2400" b="1" dirty="0">
                <a:solidFill>
                  <a:srgbClr val="FFFFFF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%</a:t>
            </a:r>
            <a:endParaRPr lang="en-US" sz="4500" dirty="0"/>
          </a:p>
        </p:txBody>
      </p:sp>
      <p:sp>
        <p:nvSpPr>
          <p:cNvPr id="19" name="Text 13"/>
          <p:cNvSpPr txBox="1"/>
          <p:nvPr/>
        </p:nvSpPr>
        <p:spPr>
          <a:xfrm>
            <a:off x="12954305" y="6057900"/>
            <a:ext cx="3810305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FB4D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accuracy on date / time conversion</a:t>
            </a:r>
            <a:endParaRPr lang="en-US" sz="1300" dirty="0"/>
          </a:p>
        </p:txBody>
      </p:sp>
      <p:sp>
        <p:nvSpPr>
          <p:cNvPr id="20" name="Text 14"/>
          <p:cNvSpPr txBox="1"/>
          <p:nvPr/>
        </p:nvSpPr>
        <p:spPr>
          <a:xfrm>
            <a:off x="12954305" y="6610198"/>
            <a:ext cx="3810305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4500" b="1" dirty="0">
                <a:solidFill>
                  <a:srgbClr val="FFFFFF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156/156</a:t>
            </a:r>
            <a:endParaRPr lang="en-US" sz="4500" dirty="0"/>
          </a:p>
        </p:txBody>
      </p:sp>
      <p:sp>
        <p:nvSpPr>
          <p:cNvPr id="21" name="Text 15"/>
          <p:cNvSpPr txBox="1"/>
          <p:nvPr/>
        </p:nvSpPr>
        <p:spPr>
          <a:xfrm>
            <a:off x="12954305" y="7276795"/>
            <a:ext cx="3810305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FB4D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unit tests passing (61 phenomena)</a:t>
            </a:r>
            <a:endParaRPr lang="en-US" sz="1300" dirty="0"/>
          </a:p>
        </p:txBody>
      </p:sp>
      <p:sp>
        <p:nvSpPr>
          <p:cNvPr id="22" name="Text 16"/>
          <p:cNvSpPr txBox="1"/>
          <p:nvPr/>
        </p:nvSpPr>
        <p:spPr>
          <a:xfrm>
            <a:off x="1143000" y="8762695"/>
            <a:ext cx="16002000" cy="2386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6A7686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Source: thesis, §5 — experimental report on 50 phonetically balanced sentences evaluated by 5 native speakers.</a:t>
            </a:r>
            <a:endParaRPr lang="en-US" sz="1300" dirty="0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90441A54-CFD5-FA5A-82F8-567769E95B1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" y="2771547"/>
            <a:ext cx="9405292" cy="576486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1">
            <a:extLst>
              <a:ext uri="{FF2B5EF4-FFF2-40B4-BE49-F238E27FC236}">
                <a16:creationId xmlns:a16="http://schemas.microsoft.com/office/drawing/2014/main" id="{9FB4C918-1D14-B4F8-223C-94CA91508DAB}"/>
              </a:ext>
            </a:extLst>
          </p:cNvPr>
          <p:cNvSpPr/>
          <p:nvPr/>
        </p:nvSpPr>
        <p:spPr>
          <a:xfrm>
            <a:off x="1" y="0"/>
            <a:ext cx="18288000" cy="10287000"/>
          </a:xfrm>
          <a:prstGeom prst="rect">
            <a:avLst/>
          </a:prstGeom>
          <a:solidFill>
            <a:srgbClr val="0B2A4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5F5193A-E0CC-103D-120A-C14031BB023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019020" y="3259822"/>
            <a:ext cx="4478625" cy="4478625"/>
          </a:xfrm>
          <a:prstGeom prst="rect">
            <a:avLst/>
          </a:prstGeom>
        </p:spPr>
      </p:pic>
      <p:sp>
        <p:nvSpPr>
          <p:cNvPr id="8" name="Text 4">
            <a:extLst>
              <a:ext uri="{FF2B5EF4-FFF2-40B4-BE49-F238E27FC236}">
                <a16:creationId xmlns:a16="http://schemas.microsoft.com/office/drawing/2014/main" id="{95609E97-C918-E3AD-43CD-1C9DBFE92020}"/>
              </a:ext>
            </a:extLst>
          </p:cNvPr>
          <p:cNvSpPr txBox="1"/>
          <p:nvPr/>
        </p:nvSpPr>
        <p:spPr>
          <a:xfrm>
            <a:off x="507546" y="1828028"/>
            <a:ext cx="7690758" cy="7242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5400" b="1" kern="0" spc="-75" dirty="0">
                <a:solidFill>
                  <a:srgbClr val="FFFFFF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Demo with Azure</a:t>
            </a:r>
            <a:endParaRPr lang="en-US" sz="5400" dirty="0"/>
          </a:p>
        </p:txBody>
      </p:sp>
      <p:sp>
        <p:nvSpPr>
          <p:cNvPr id="9" name="Text 4">
            <a:extLst>
              <a:ext uri="{FF2B5EF4-FFF2-40B4-BE49-F238E27FC236}">
                <a16:creationId xmlns:a16="http://schemas.microsoft.com/office/drawing/2014/main" id="{2654DDFD-8D15-6B72-52AF-06D2E32EA852}"/>
              </a:ext>
            </a:extLst>
          </p:cNvPr>
          <p:cNvSpPr txBox="1"/>
          <p:nvPr/>
        </p:nvSpPr>
        <p:spPr>
          <a:xfrm>
            <a:off x="11346996" y="1828028"/>
            <a:ext cx="5176158" cy="7242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5400" b="1" kern="0" spc="-75" dirty="0">
                <a:solidFill>
                  <a:srgbClr val="FFFFFF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Demo with </a:t>
            </a:r>
            <a:r>
              <a:rPr lang="en-US" sz="5400" b="1" kern="0" spc="-75" dirty="0" err="1">
                <a:solidFill>
                  <a:srgbClr val="FFFFFF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Pyhton</a:t>
            </a:r>
            <a:endParaRPr lang="en-US" sz="5400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949D98FF-9E8F-7C09-2492-52CF82D4292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590659" y="3259823"/>
            <a:ext cx="4478625" cy="4478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09638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8600244" cy="11037608"/>
          </a:xfrm>
          <a:prstGeom prst="rect">
            <a:avLst/>
          </a:prstGeom>
          <a:solidFill>
            <a:srgbClr val="0B2A4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4" name="Shape 2"/>
          <p:cNvSpPr/>
          <p:nvPr/>
        </p:nvSpPr>
        <p:spPr>
          <a:xfrm>
            <a:off x="0" y="9430207"/>
            <a:ext cx="18288000" cy="857707"/>
          </a:xfrm>
          <a:prstGeom prst="rect">
            <a:avLst/>
          </a:prstGeom>
          <a:solidFill>
            <a:srgbClr val="0A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pic>
        <p:nvPicPr>
          <p:cNvPr id="5" name="Image 0" descr="gen-dedup-cfc304a6ff6b7471c886aeceb308770f.png"/>
          <p:cNvPicPr>
            <a:picLocks noChangeAspect="1"/>
          </p:cNvPicPr>
          <p:nvPr/>
        </p:nvPicPr>
        <p:blipFill>
          <a:blip r:embed="rId3"/>
          <a:srcRect t="-420" b="-420"/>
          <a:stretch/>
        </p:blipFill>
        <p:spPr>
          <a:xfrm>
            <a:off x="1143000" y="1143000"/>
            <a:ext cx="761695" cy="38405"/>
          </a:xfrm>
          <a:prstGeom prst="rect">
            <a:avLst/>
          </a:prstGeom>
        </p:spPr>
      </p:pic>
      <p:pic>
        <p:nvPicPr>
          <p:cNvPr id="6" name="Image 1" descr="gen-dedup-30c1d4335c27be9f6c95ecf4b85c462e.png"/>
          <p:cNvPicPr>
            <a:picLocks noChangeAspect="1"/>
          </p:cNvPicPr>
          <p:nvPr/>
        </p:nvPicPr>
        <p:blipFill>
          <a:blip r:embed="rId4"/>
          <a:srcRect l="-2083" r="-2083"/>
          <a:stretch/>
        </p:blipFill>
        <p:spPr>
          <a:xfrm>
            <a:off x="1143000" y="5048402"/>
            <a:ext cx="16002000" cy="9144"/>
          </a:xfrm>
          <a:prstGeom prst="rect">
            <a:avLst/>
          </a:prstGeom>
        </p:spPr>
      </p:pic>
      <p:pic>
        <p:nvPicPr>
          <p:cNvPr id="7" name="Image 2" descr="gen-dedup-c90fb4301b4eb1972d25d2bc30c29a7a.png"/>
          <p:cNvPicPr>
            <a:picLocks noChangeAspect="1"/>
          </p:cNvPicPr>
          <p:nvPr/>
        </p:nvPicPr>
        <p:blipFill>
          <a:blip r:embed="rId5"/>
          <a:srcRect t="-2078" b="-2078"/>
          <a:stretch/>
        </p:blipFill>
        <p:spPr>
          <a:xfrm>
            <a:off x="9334195" y="5429707"/>
            <a:ext cx="9144" cy="3619195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1143000" y="1333195"/>
            <a:ext cx="1428750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C9A2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 · CONCLUSION</a:t>
            </a:r>
            <a:endParaRPr lang="en-US" sz="1300" dirty="0"/>
          </a:p>
        </p:txBody>
      </p:sp>
      <p:sp>
        <p:nvSpPr>
          <p:cNvPr id="9" name="Text 4"/>
          <p:cNvSpPr txBox="1"/>
          <p:nvPr/>
        </p:nvSpPr>
        <p:spPr>
          <a:xfrm>
            <a:off x="1143000" y="1809598"/>
            <a:ext cx="16002000" cy="7242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400" b="1" kern="0" spc="-75" dirty="0">
                <a:solidFill>
                  <a:srgbClr val="FFFFFF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Conclusion and outlook</a:t>
            </a:r>
            <a:endParaRPr lang="en-US" sz="5400" dirty="0"/>
          </a:p>
        </p:txBody>
      </p:sp>
      <p:sp>
        <p:nvSpPr>
          <p:cNvPr id="10" name="Text 5"/>
          <p:cNvSpPr txBox="1"/>
          <p:nvPr/>
        </p:nvSpPr>
        <p:spPr>
          <a:xfrm>
            <a:off x="16573500" y="8953805"/>
            <a:ext cx="762610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000" kern="0" spc="150" dirty="0">
                <a:solidFill>
                  <a:srgbClr val="5A709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 / 16</a:t>
            </a:r>
            <a:endParaRPr lang="en-US" sz="1000" dirty="0"/>
          </a:p>
        </p:txBody>
      </p:sp>
      <p:sp>
        <p:nvSpPr>
          <p:cNvPr id="11" name="Text 6"/>
          <p:cNvSpPr txBox="1"/>
          <p:nvPr/>
        </p:nvSpPr>
        <p:spPr>
          <a:xfrm>
            <a:off x="1143000" y="3143707"/>
            <a:ext cx="1600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500" i="1" dirty="0">
                <a:solidFill>
                  <a:srgbClr val="FFFFFF"/>
                </a:solidFill>
                <a:latin typeface="var(--serif)" pitchFamily="34" charset="0"/>
                <a:ea typeface="var(--serif)" pitchFamily="34" charset="-122"/>
                <a:cs typeface="var(--serif)" pitchFamily="34" charset="-120"/>
              </a:rPr>
              <a:t> “Rule-based TTS is a </a:t>
            </a:r>
            <a:r>
              <a:rPr lang="en-US" sz="2500" b="1" i="1" dirty="0">
                <a:solidFill>
                  <a:srgbClr val="C9A227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functional, transparent and extensible baseline</a:t>
            </a:r>
            <a:r>
              <a:rPr lang="en-US" sz="2500" i="1" dirty="0">
                <a:solidFill>
                  <a:srgbClr val="FFFFFF"/>
                </a:solidFill>
                <a:latin typeface="var(--serif)" pitchFamily="34" charset="0"/>
                <a:ea typeface="var(--serif)" pitchFamily="34" charset="-122"/>
                <a:cs typeface="var(--serif)" pitchFamily="34" charset="-120"/>
              </a:rPr>
              <a:t> for Azerbaijani — and a labelling tool for the neural systems that will follow.” </a:t>
            </a:r>
            <a:endParaRPr lang="en-US" sz="2500" dirty="0"/>
          </a:p>
        </p:txBody>
      </p:sp>
      <p:sp>
        <p:nvSpPr>
          <p:cNvPr id="12" name="Text 7"/>
          <p:cNvSpPr txBox="1"/>
          <p:nvPr/>
        </p:nvSpPr>
        <p:spPr>
          <a:xfrm>
            <a:off x="1143000" y="5429707"/>
            <a:ext cx="7810805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25" dirty="0">
                <a:solidFill>
                  <a:srgbClr val="C9A2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KEY OUTCOMES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1143000" y="5905195"/>
            <a:ext cx="7810805" cy="5431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C9A2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</a:t>
            </a:r>
            <a:r>
              <a:rPr lang="en-US" sz="16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first openly published, documented TTS system for North Azerbaijani</a:t>
            </a:r>
            <a:endParaRPr lang="en-US" sz="1200" dirty="0"/>
          </a:p>
        </p:txBody>
      </p:sp>
      <p:sp>
        <p:nvSpPr>
          <p:cNvPr id="14" name="Text 9"/>
          <p:cNvSpPr txBox="1"/>
          <p:nvPr/>
        </p:nvSpPr>
        <p:spPr>
          <a:xfrm>
            <a:off x="1143000" y="6448349"/>
            <a:ext cx="7810805" cy="5431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C9A2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</a:t>
            </a:r>
            <a:r>
              <a:rPr lang="en-US" sz="16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MOS 3.2 vs 2.8 (+14 %), WER 12.4 % vs 18.7 % (−6.3 pp)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1143000" y="6991502"/>
            <a:ext cx="7810805" cy="5431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C9A2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</a:t>
            </a:r>
            <a:r>
              <a:rPr lang="en-US" sz="16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156-case unit-test suite covering 61 phonological phenomena</a:t>
            </a:r>
            <a:endParaRPr lang="en-US" sz="1200" dirty="0"/>
          </a:p>
        </p:txBody>
      </p:sp>
      <p:sp>
        <p:nvSpPr>
          <p:cNvPr id="16" name="Text 11"/>
          <p:cNvSpPr txBox="1"/>
          <p:nvPr/>
        </p:nvSpPr>
        <p:spPr>
          <a:xfrm>
            <a:off x="1143000" y="7534656"/>
            <a:ext cx="7810805" cy="5431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C9A2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</a:t>
            </a:r>
            <a:r>
              <a:rPr lang="en-US" sz="16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JSON-based rule base that can be edited by a linguist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1143000" y="8076895"/>
            <a:ext cx="7810805" cy="5431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C9A2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</a:t>
            </a:r>
            <a:r>
              <a:rPr lang="en-US" sz="16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 normalisation reaching 97.2 % overall accuracy</a:t>
            </a:r>
            <a:endParaRPr lang="en-US" sz="1200" dirty="0"/>
          </a:p>
        </p:txBody>
      </p:sp>
      <p:sp>
        <p:nvSpPr>
          <p:cNvPr id="18" name="Text 13"/>
          <p:cNvSpPr txBox="1"/>
          <p:nvPr/>
        </p:nvSpPr>
        <p:spPr>
          <a:xfrm>
            <a:off x="9715500" y="5429707"/>
            <a:ext cx="7429500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25" dirty="0">
                <a:solidFill>
                  <a:srgbClr val="C9A2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FUTURE WORK</a:t>
            </a:r>
            <a:endParaRPr lang="en-US" sz="1200" dirty="0"/>
          </a:p>
        </p:txBody>
      </p:sp>
      <p:sp>
        <p:nvSpPr>
          <p:cNvPr id="19" name="Text 14"/>
          <p:cNvSpPr txBox="1"/>
          <p:nvPr/>
        </p:nvSpPr>
        <p:spPr>
          <a:xfrm>
            <a:off x="9715500" y="5905195"/>
            <a:ext cx="7429500" cy="5431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C9A227"/>
                </a:solidFill>
                <a:latin typeface="var(--serif)" pitchFamily="34" charset="0"/>
                <a:ea typeface="var(--serif)" pitchFamily="34" charset="-122"/>
                <a:cs typeface="var(--serif)" pitchFamily="34" charset="-120"/>
              </a:rPr>
              <a:t>→ </a:t>
            </a:r>
            <a:r>
              <a:rPr lang="en-US" sz="16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Extend loanword phonology coverage</a:t>
            </a:r>
            <a:endParaRPr lang="en-US" sz="1200" dirty="0"/>
          </a:p>
        </p:txBody>
      </p:sp>
      <p:sp>
        <p:nvSpPr>
          <p:cNvPr id="20" name="Text 15"/>
          <p:cNvSpPr txBox="1"/>
          <p:nvPr/>
        </p:nvSpPr>
        <p:spPr>
          <a:xfrm>
            <a:off x="9715500" y="6448349"/>
            <a:ext cx="7429500" cy="5431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C9A227"/>
                </a:solidFill>
                <a:latin typeface="var(--serif)" pitchFamily="34" charset="0"/>
                <a:ea typeface="var(--serif)" pitchFamily="34" charset="-122"/>
                <a:cs typeface="var(--serif)" pitchFamily="34" charset="-120"/>
              </a:rPr>
              <a:t>→ </a:t>
            </a:r>
            <a:r>
              <a:rPr lang="en-US" sz="16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Hybrid architecture: rule-based front-end + neural vocoder</a:t>
            </a:r>
            <a:endParaRPr lang="en-US" sz="1200" dirty="0"/>
          </a:p>
        </p:txBody>
      </p:sp>
      <p:sp>
        <p:nvSpPr>
          <p:cNvPr id="21" name="Text 16"/>
          <p:cNvSpPr txBox="1"/>
          <p:nvPr/>
        </p:nvSpPr>
        <p:spPr>
          <a:xfrm>
            <a:off x="9715500" y="6991502"/>
            <a:ext cx="7429500" cy="5431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C9A227"/>
                </a:solidFill>
                <a:latin typeface="var(--serif)" pitchFamily="34" charset="0"/>
                <a:ea typeface="var(--serif)" pitchFamily="34" charset="-122"/>
                <a:cs typeface="var(--serif)" pitchFamily="34" charset="-120"/>
              </a:rPr>
              <a:t>→ </a:t>
            </a:r>
            <a:r>
              <a:rPr lang="en-US" sz="16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Create an open corpus auto-labelled by the rule base</a:t>
            </a:r>
            <a:endParaRPr lang="en-US" sz="1200" dirty="0"/>
          </a:p>
        </p:txBody>
      </p:sp>
      <p:sp>
        <p:nvSpPr>
          <p:cNvPr id="22" name="Text 17"/>
          <p:cNvSpPr txBox="1"/>
          <p:nvPr/>
        </p:nvSpPr>
        <p:spPr>
          <a:xfrm>
            <a:off x="9715500" y="7534656"/>
            <a:ext cx="7429500" cy="5431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C9A227"/>
                </a:solidFill>
                <a:latin typeface="var(--serif)" pitchFamily="34" charset="0"/>
                <a:ea typeface="var(--serif)" pitchFamily="34" charset="-122"/>
                <a:cs typeface="var(--serif)" pitchFamily="34" charset="-120"/>
              </a:rPr>
              <a:t>→ </a:t>
            </a:r>
            <a:r>
              <a:rPr lang="en-US" sz="16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Adapt to the South Azerbaijani dialect</a:t>
            </a:r>
            <a:endParaRPr lang="en-US" sz="1200" dirty="0"/>
          </a:p>
        </p:txBody>
      </p:sp>
      <p:sp>
        <p:nvSpPr>
          <p:cNvPr id="23" name="Text 18"/>
          <p:cNvSpPr txBox="1"/>
          <p:nvPr/>
        </p:nvSpPr>
        <p:spPr>
          <a:xfrm>
            <a:off x="9715500" y="8076895"/>
            <a:ext cx="7429500" cy="5431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C9A227"/>
                </a:solidFill>
                <a:latin typeface="var(--serif)" pitchFamily="34" charset="0"/>
                <a:ea typeface="var(--serif)" pitchFamily="34" charset="-122"/>
                <a:cs typeface="var(--serif)" pitchFamily="34" charset="-120"/>
              </a:rPr>
              <a:t>→ </a:t>
            </a:r>
            <a:r>
              <a:rPr lang="en-US" sz="16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Pilot deployments in e-government and accessibility tools</a:t>
            </a:r>
            <a:endParaRPr lang="en-US" sz="1200" dirty="0"/>
          </a:p>
        </p:txBody>
      </p:sp>
      <p:sp>
        <p:nvSpPr>
          <p:cNvPr id="24" name="Text 19"/>
          <p:cNvSpPr txBox="1"/>
          <p:nvPr/>
        </p:nvSpPr>
        <p:spPr>
          <a:xfrm>
            <a:off x="1143000" y="9658807"/>
            <a:ext cx="8572500" cy="467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700" b="1" kern="0" spc="75" dirty="0">
                <a:solidFill>
                  <a:srgbClr val="FFFFFF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Thank you for your attention</a:t>
            </a:r>
            <a:endParaRPr lang="en-US" sz="2700" dirty="0"/>
          </a:p>
        </p:txBody>
      </p:sp>
      <p:sp>
        <p:nvSpPr>
          <p:cNvPr id="25" name="Text 20"/>
          <p:cNvSpPr txBox="1"/>
          <p:nvPr/>
        </p:nvSpPr>
        <p:spPr>
          <a:xfrm>
            <a:off x="10477195" y="9753905"/>
            <a:ext cx="6667805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300" kern="0" spc="75" dirty="0">
                <a:solidFill>
                  <a:srgbClr val="9FB4D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Bashirov Ulvi Samir · UNEC Business School · 2026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809</TotalTime>
  <Words>1960</Words>
  <Application>Microsoft Macintosh PowerPoint</Application>
  <PresentationFormat>Custom</PresentationFormat>
  <Paragraphs>386</Paragraphs>
  <Slides>17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4" baseType="lpstr">
      <vt:lpstr>Arial</vt:lpstr>
      <vt:lpstr>Inter</vt:lpstr>
      <vt:lpstr>JetBrains Mono</vt:lpstr>
      <vt:lpstr>Source Serif 4</vt:lpstr>
      <vt:lpstr>var(--mono)</vt:lpstr>
      <vt:lpstr>var(--serif)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Generated by Gen-Spark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Ulvi S. Basirov</cp:lastModifiedBy>
  <cp:revision>5</cp:revision>
  <dcterms:created xsi:type="dcterms:W3CDTF">2026-06-15T08:38:04Z</dcterms:created>
  <dcterms:modified xsi:type="dcterms:W3CDTF">2026-06-25T11:05:54Z</dcterms:modified>
</cp:coreProperties>
</file>