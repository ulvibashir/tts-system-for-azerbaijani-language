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73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12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4" name="Image 0" descr="gen-dedup-b87ccc4a12b2347949c935bb707b9daf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0" y="0"/>
            <a:ext cx="7239305" cy="10287000"/>
          </a:xfrm>
          <a:prstGeom prst="rect">
            <a:avLst/>
          </a:prstGeom>
        </p:spPr>
      </p:pic>
      <p:pic>
        <p:nvPicPr>
          <p:cNvPr id="5" name="Image 1" descr="gen-dedup-29c2778d980487fba9cd4d85b14b4ac1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7239305" y="0"/>
            <a:ext cx="38405" cy="10287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10805" y="7239305"/>
            <a:ext cx="9753905" cy="2286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7" name="Shape 3"/>
          <p:cNvSpPr/>
          <p:nvPr/>
        </p:nvSpPr>
        <p:spPr>
          <a:xfrm>
            <a:off x="7810805" y="7239305"/>
            <a:ext cx="38405" cy="2286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8" name="Image 2" descr="gen-dedup-e6aedc7a4ad8b3afa1c52e6fd432fe75.png"/>
          <p:cNvPicPr>
            <a:picLocks noChangeAspect="1"/>
          </p:cNvPicPr>
          <p:nvPr/>
        </p:nvPicPr>
        <p:blipFill>
          <a:blip r:embed="rId5"/>
          <a:srcRect l="-11" r="-11"/>
          <a:stretch/>
        </p:blipFill>
        <p:spPr>
          <a:xfrm>
            <a:off x="761695" y="7810805"/>
            <a:ext cx="5715000" cy="1333195"/>
          </a:xfrm>
          <a:prstGeom prst="rect">
            <a:avLst/>
          </a:prstGeom>
        </p:spPr>
      </p:pic>
      <p:pic>
        <p:nvPicPr>
          <p:cNvPr id="9" name="Image 3" descr="gen-dedup-1a162a019b97a971bd9279dce9eaa9f3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7810805" y="6286500"/>
            <a:ext cx="1143000" cy="47549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1143000"/>
            <a:ext cx="5906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AZERBAIJAN STATE UNIVERSITY OF ECONOMICS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419149"/>
            <a:ext cx="5906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UNEC BUSINESS SCHOOL · MBA · ARTIFICIAL INTELLIGENCE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2190902"/>
            <a:ext cx="5906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FB4D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Master's Thesis — Defense Presentation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2857500"/>
            <a:ext cx="2638958" cy="333756"/>
          </a:xfrm>
          <a:prstGeom prst="rect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/>
            </a:solidFill>
          </a:ln>
        </p:spPr>
        <p:txBody>
          <a:bodyPr wrap="none" lIns="152400" tIns="76200" rIns="152400" bIns="7620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TECHNOLOGY · NLP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7810805" y="2190902"/>
            <a:ext cx="9715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TOPIC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810805" y="2667305"/>
            <a:ext cx="9715500" cy="2638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 and Development of a Rule-Based Text-to-Speech System for the Azerbaijani Language</a:t>
            </a:r>
            <a:endParaRPr lang="en-US" sz="4800" dirty="0"/>
          </a:p>
        </p:txBody>
      </p:sp>
      <p:sp>
        <p:nvSpPr>
          <p:cNvPr id="16" name="Text 10"/>
          <p:cNvSpPr txBox="1"/>
          <p:nvPr/>
        </p:nvSpPr>
        <p:spPr>
          <a:xfrm>
            <a:off x="7810805" y="6572707"/>
            <a:ext cx="9715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modular, open, documented pipeline for a low-resource Azerbaijani language — without training data.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153705" y="7487107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8153705" y="7705649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Bashirov Ulvi Samir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8153705" y="8162849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E27‑24 · Code 060409 · MBA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3144500" y="7487107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SUPERVISOR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3144500" y="7705649"/>
            <a:ext cx="4000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Pashayeva Khanim Jamal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3144500" y="8143646"/>
            <a:ext cx="4000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SUPERVISOR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3144500" y="8343900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PhD. Gazanfarli Mirvari Khagani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810805" y="9715500"/>
            <a:ext cx="9715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BAKU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4095598"/>
            <a:ext cx="5143500" cy="270479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1143000" y="4095598"/>
            <a:ext cx="5143500" cy="38405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6572707" y="4095598"/>
            <a:ext cx="5143500" cy="270479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6572707" y="4095598"/>
            <a:ext cx="5143500" cy="38405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8" name="Shape 6"/>
          <p:cNvSpPr/>
          <p:nvPr/>
        </p:nvSpPr>
        <p:spPr>
          <a:xfrm>
            <a:off x="12001500" y="4095598"/>
            <a:ext cx="5143500" cy="270479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12001500" y="4095598"/>
            <a:ext cx="5143500" cy="3840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8"/>
          <p:cNvSpPr/>
          <p:nvPr/>
        </p:nvSpPr>
        <p:spPr>
          <a:xfrm>
            <a:off x="1143000" y="7239305"/>
            <a:ext cx="16002000" cy="190469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11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 of the topic</a:t>
            </a:r>
            <a:endParaRPr lang="en-US" sz="51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476195"/>
            <a:ext cx="149733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 more than 35 million speakers, Azerbaijani remains a low-resource language for speech technology.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524305" y="4381805"/>
            <a:ext cx="4572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35M+</a:t>
            </a:r>
            <a:endParaRPr lang="en-US" sz="7200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5429707"/>
            <a:ext cx="4572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speakers worldwide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579912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Azerbaijan, Iran, Turkey, Russia, Georgia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53098" y="4381805"/>
            <a:ext cx="4572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F5AA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~0</a:t>
            </a:r>
            <a:endParaRPr lang="en-US" sz="7200" dirty="0"/>
          </a:p>
        </p:txBody>
      </p:sp>
      <p:sp>
        <p:nvSpPr>
          <p:cNvPr id="20" name="Text 17"/>
          <p:cNvSpPr txBox="1"/>
          <p:nvPr/>
        </p:nvSpPr>
        <p:spPr>
          <a:xfrm>
            <a:off x="6953098" y="5429707"/>
            <a:ext cx="5143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documented Azerbaijani TTS systems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53098" y="5799125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solutions are proprietary or buried in multilingual models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2382805" y="4381805"/>
            <a:ext cx="4572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A8841C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5–20</a:t>
            </a:r>
            <a:r>
              <a:rPr lang="en-US" sz="3100" b="1" dirty="0">
                <a:solidFill>
                  <a:srgbClr val="6A76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hrs</a:t>
            </a:r>
            <a:endParaRPr lang="en-US" sz="7200" dirty="0"/>
          </a:p>
        </p:txBody>
      </p:sp>
      <p:sp>
        <p:nvSpPr>
          <p:cNvPr id="23" name="Text 20"/>
          <p:cNvSpPr txBox="1"/>
          <p:nvPr/>
        </p:nvSpPr>
        <p:spPr>
          <a:xfrm>
            <a:off x="12382805" y="5429707"/>
            <a:ext cx="4766767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speech data required by neural TTS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382805" y="579912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such open corpus exists for Azerbaijani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524305" y="7524598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7905902"/>
            <a:ext cx="15240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Accessibility for visually-impaired users, e-government (ASAN services), in-car navigation, language-learning platforms and literacy tools all depend on a quality Azerbaijani TTS engine.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6001207"/>
            <a:ext cx="3810305" cy="3619195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5143500" y="6001207"/>
            <a:ext cx="3810305" cy="3619195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9144000" y="6001207"/>
            <a:ext cx="3810305" cy="3619195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13144500" y="6001207"/>
            <a:ext cx="4000500" cy="361919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8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9" name="Image 1" descr="gen-dedup-35d54ae2d884268cadb3ceb70fe6837b.png"/>
          <p:cNvPicPr>
            <a:picLocks noChangeAspect="1"/>
          </p:cNvPicPr>
          <p:nvPr/>
        </p:nvPicPr>
        <p:blipFill>
          <a:blip r:embed="rId4"/>
          <a:srcRect t="-2072" b="-2072"/>
          <a:stretch/>
        </p:blipFill>
        <p:spPr>
          <a:xfrm>
            <a:off x="6286500" y="2667305"/>
            <a:ext cx="9144" cy="1904695"/>
          </a:xfrm>
          <a:prstGeom prst="rect">
            <a:avLst/>
          </a:prstGeom>
        </p:spPr>
      </p:pic>
      <p:pic>
        <p:nvPicPr>
          <p:cNvPr id="10" name="Image 2" descr="gen-dedup-455b04551d30699a0513a54007708f92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5048402"/>
            <a:ext cx="16002000" cy="192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Problem statement</a:t>
            </a:r>
            <a:endParaRPr lang="en-US" sz="5100" dirty="0"/>
          </a:p>
        </p:txBody>
      </p:sp>
      <p:sp>
        <p:nvSpPr>
          <p:cNvPr id="13" name="Text 8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16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667305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OBJECT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962656"/>
            <a:ext cx="49533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process of automatic text-to-speech conversion in Azerbaijani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667805" y="2667305"/>
            <a:ext cx="10478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SUBJECT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6667805" y="2962656"/>
            <a:ext cx="104781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Formalization of phonological, morphological and prosodic rules as a computational model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429707"/>
            <a:ext cx="1600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OF EXISTING SOLUTIONS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6286500"/>
            <a:ext cx="3238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4800" dirty="0"/>
          </a:p>
        </p:txBody>
      </p:sp>
      <p:sp>
        <p:nvSpPr>
          <p:cNvPr id="20" name="Text 15"/>
          <p:cNvSpPr txBox="1"/>
          <p:nvPr/>
        </p:nvSpPr>
        <p:spPr>
          <a:xfrm>
            <a:off x="1429207" y="7067398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source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429207" y="7410298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solutions (Rustamov et al.) are undocumented and inaccessible for academic research.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29707" y="6286500"/>
            <a:ext cx="3238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4800" dirty="0"/>
          </a:p>
        </p:txBody>
      </p:sp>
      <p:sp>
        <p:nvSpPr>
          <p:cNvPr id="23" name="Text 18"/>
          <p:cNvSpPr txBox="1"/>
          <p:nvPr/>
        </p:nvSpPr>
        <p:spPr>
          <a:xfrm>
            <a:off x="5429707" y="7067398"/>
            <a:ext cx="36228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model weakness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429707" y="7410298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models (IS2AI) fail to accurately capture Azerbaijani vowel harmony.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9430207" y="6286500"/>
            <a:ext cx="32388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4800" dirty="0"/>
          </a:p>
        </p:txBody>
      </p:sp>
      <p:sp>
        <p:nvSpPr>
          <p:cNvPr id="26" name="Text 21"/>
          <p:cNvSpPr txBox="1"/>
          <p:nvPr/>
        </p:nvSpPr>
        <p:spPr>
          <a:xfrm>
            <a:off x="9430207" y="7067398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open corpus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430207" y="7410298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5–20 hours of speech needed for neural approaches is not openly available for Azerbaijani.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3430707" y="6286500"/>
            <a:ext cx="3429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Text 24"/>
          <p:cNvSpPr txBox="1"/>
          <p:nvPr/>
        </p:nvSpPr>
        <p:spPr>
          <a:xfrm>
            <a:off x="13430707" y="7067398"/>
            <a:ext cx="388254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documented linguistic base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13430707" y="7410298"/>
            <a:ext cx="3429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existing system publishes a computational formalisation of Azerbaijani phonology.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408737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2762402"/>
            <a:ext cx="6476695" cy="647669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5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6" name="Image 1" descr="gen-dedup-6f7d439f1708d6b2c78fb4dcf548d03b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524305" y="3619195"/>
            <a:ext cx="571500" cy="28346"/>
          </a:xfrm>
          <a:prstGeom prst="rect">
            <a:avLst/>
          </a:prstGeom>
        </p:spPr>
      </p:pic>
      <p:pic>
        <p:nvPicPr>
          <p:cNvPr id="7" name="Image 2" descr="gen-dedup-af4048a96f980aca3b3a898d26cc7575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8287207"/>
            <a:ext cx="5715000" cy="91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Research aim and tasks</a:t>
            </a:r>
            <a:endParaRPr lang="en-US" sz="5100" dirty="0"/>
          </a:p>
        </p:txBody>
      </p:sp>
      <p:sp>
        <p:nvSpPr>
          <p:cNvPr id="10" name="Text 5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16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3143707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3905402"/>
            <a:ext cx="5715000" cy="244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 To design, implement and evaluate an open, transparent rule-based TTS system for North Azerbaijani </a:t>
            </a:r>
            <a:r>
              <a:rPr lang="en-US" sz="28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without requiring training data</a:t>
            </a:r>
            <a:r>
              <a:rPr lang="en-US" sz="2800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. 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8477402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FB4D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“An interpretable baseline for low-resource languages.”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96098" y="27624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TASKS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96098" y="4401007"/>
            <a:ext cx="9048902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Text 11"/>
          <p:cNvSpPr txBox="1"/>
          <p:nvPr/>
        </p:nvSpPr>
        <p:spPr>
          <a:xfrm>
            <a:off x="8096098" y="3238805"/>
            <a:ext cx="9048902" cy="9729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01 </a:t>
            </a:r>
            <a:r>
              <a:rPr lang="en-US" sz="18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review of TTS paradigms (formant, concatenative, statistical, neural).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96098" y="5564124"/>
            <a:ext cx="9048902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3"/>
          <p:cNvSpPr txBox="1"/>
          <p:nvPr/>
        </p:nvSpPr>
        <p:spPr>
          <a:xfrm>
            <a:off x="8096098" y="4401922"/>
            <a:ext cx="9048902" cy="9729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02 </a:t>
            </a:r>
            <a:r>
              <a:rPr lang="en-US" sz="1800" dirty="0" err="1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Systematise</a:t>
            </a:r>
            <a:r>
              <a:rPr lang="en-US" sz="18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phonological and prosodic features of Azerbaijani relevant to TTS.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96098" y="6442862"/>
            <a:ext cx="9048902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Text 15"/>
          <p:cNvSpPr txBox="1"/>
          <p:nvPr/>
        </p:nvSpPr>
        <p:spPr>
          <a:xfrm>
            <a:off x="8096098" y="5565953"/>
            <a:ext cx="904890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03 </a:t>
            </a:r>
            <a:r>
              <a:rPr lang="en-US" sz="18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modular five-stage pipeline architecture.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96098" y="7328916"/>
            <a:ext cx="9048902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2" name="Text 17"/>
          <p:cNvSpPr txBox="1"/>
          <p:nvPr/>
        </p:nvSpPr>
        <p:spPr>
          <a:xfrm>
            <a:off x="8096098" y="6452006"/>
            <a:ext cx="904890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90500" rIns="19050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04 </a:t>
            </a:r>
            <a:r>
              <a:rPr lang="en-US" sz="18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in Python and validate with a 156-case unit-test suite.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287208" y="7344850"/>
            <a:ext cx="904890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05 </a:t>
            </a:r>
            <a:r>
              <a:rPr lang="en-US" sz="18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against a baseline using MOS and WER.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4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5" name="Image 1" descr="gen-dedup-6f7d439f1708d6b2c78fb4dcf548d03b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143000" y="3238805"/>
            <a:ext cx="571500" cy="28346"/>
          </a:xfrm>
          <a:prstGeom prst="rect">
            <a:avLst/>
          </a:prstGeom>
        </p:spPr>
      </p:pic>
      <p:pic>
        <p:nvPicPr>
          <p:cNvPr id="6" name="Image 2" descr="gen-dedup-4b5a8e9f8869b57674187ce28bb24099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9525305" y="2857500"/>
            <a:ext cx="9144" cy="6476695"/>
          </a:xfrm>
          <a:prstGeom prst="rect">
            <a:avLst/>
          </a:prstGeom>
        </p:spPr>
      </p:pic>
      <p:pic>
        <p:nvPicPr>
          <p:cNvPr id="7" name="Image 3" descr="gen-dedup-545273c5b88c031807eeb591ce4170ae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9905695" y="3238805"/>
            <a:ext cx="571500" cy="28346"/>
          </a:xfrm>
          <a:prstGeom prst="rect">
            <a:avLst/>
          </a:prstGeom>
        </p:spPr>
      </p:pic>
      <p:pic>
        <p:nvPicPr>
          <p:cNvPr id="8" name="Image 4" descr="gen-dedup-9ba1d63789b373b2799f8e7becbeeaef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1429207"/>
            <a:ext cx="16573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Scientific novelty and practical significance</a:t>
            </a:r>
            <a:endParaRPr lang="en-US" sz="5100" dirty="0"/>
          </a:p>
        </p:txBody>
      </p:sp>
      <p:sp>
        <p:nvSpPr>
          <p:cNvPr id="11" name="Text 4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16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857500"/>
            <a:ext cx="8001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NOVELTY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3524098"/>
            <a:ext cx="8001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first openly published, documented rule-based TTS system for North Azerbaijani.</a:t>
            </a:r>
            <a:endParaRPr lang="en-US" sz="25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5524805"/>
            <a:ext cx="8001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computational encoding of phonological rules is validated by a </a:t>
            </a: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156-case test suite</a:t>
            </a: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covering </a:t>
            </a: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 linguistic phenomena</a:t>
            </a:r>
            <a:r>
              <a:rPr lang="en-US" sz="16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9905695" y="2857500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SIGNIFICANCE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905695" y="3619195"/>
            <a:ext cx="3504895" cy="14859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Text 10"/>
          <p:cNvSpPr txBox="1"/>
          <p:nvPr/>
        </p:nvSpPr>
        <p:spPr>
          <a:xfrm>
            <a:off x="10153498" y="3847795"/>
            <a:ext cx="30102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A11Y</a:t>
            </a:r>
            <a:endParaRPr lang="en-US" sz="2200" dirty="0"/>
          </a:p>
        </p:txBody>
      </p:sp>
      <p:sp>
        <p:nvSpPr>
          <p:cNvPr id="18" name="Text 11"/>
          <p:cNvSpPr txBox="1"/>
          <p:nvPr/>
        </p:nvSpPr>
        <p:spPr>
          <a:xfrm>
            <a:off x="10153498" y="4334256"/>
            <a:ext cx="30102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readers for visually-impaired users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13640105" y="3619195"/>
            <a:ext cx="3504895" cy="14859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Text 13"/>
          <p:cNvSpPr txBox="1"/>
          <p:nvPr/>
        </p:nvSpPr>
        <p:spPr>
          <a:xfrm>
            <a:off x="13887907" y="3847795"/>
            <a:ext cx="30102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e‑Gov</a:t>
            </a:r>
            <a:endParaRPr lang="en-US" sz="2200" dirty="0"/>
          </a:p>
        </p:txBody>
      </p:sp>
      <p:sp>
        <p:nvSpPr>
          <p:cNvPr id="21" name="Text 14"/>
          <p:cNvSpPr txBox="1"/>
          <p:nvPr/>
        </p:nvSpPr>
        <p:spPr>
          <a:xfrm>
            <a:off x="13887907" y="4343400"/>
            <a:ext cx="30102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ASAN services, voicing of government portals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9905695" y="5333695"/>
            <a:ext cx="3504895" cy="1476756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3" name="Text 16"/>
          <p:cNvSpPr txBox="1"/>
          <p:nvPr/>
        </p:nvSpPr>
        <p:spPr>
          <a:xfrm>
            <a:off x="10153498" y="5562295"/>
            <a:ext cx="30102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NAV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10153498" y="6048756"/>
            <a:ext cx="30102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and automotive interfaces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13640105" y="5333695"/>
            <a:ext cx="3504895" cy="1476756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6" name="Text 19"/>
          <p:cNvSpPr txBox="1"/>
          <p:nvPr/>
        </p:nvSpPr>
        <p:spPr>
          <a:xfrm>
            <a:off x="13887907" y="5562295"/>
            <a:ext cx="30102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EDU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3887907" y="6048756"/>
            <a:ext cx="30102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Language-learning and literacy platforms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4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THEORETICAL FOUNDATIONS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comparison of TTS approaches</a:t>
            </a:r>
            <a:endParaRPr lang="en-US" sz="51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286000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Von Kempelen's mechanical machine to modern neural architectures.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143707"/>
          <a:ext cx="16002000" cy="4657956"/>
        </p:xfrm>
        <a:graphic>
          <a:graphicData uri="http://schemas.openxmlformats.org/drawingml/2006/table">
            <a:tbl>
              <a:tblPr/>
              <a:tblGrid>
                <a:gridCol w="255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1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6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APPROACH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EXAMPLE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REQUIRED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MOS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FIT FOR AZ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190195" marB="1901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2A4A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Formant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DECtalk, MITalk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2.0–2.5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Mechanical quality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2A4A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Concatenative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Festival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 unit bank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3.0–3.5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Bank not available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2A4A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Statistical (HMM)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HTS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5–20 hours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3.2–3.6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corpus exists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B2A4A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Neural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Tacotron, VITS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20+ hrs, high quality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4.2–4.5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Resources lacking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6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50" b="1" dirty="0">
                          <a:solidFill>
                            <a:srgbClr val="C9A22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Rule-based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thesis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 (measured)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C9A2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Ideal starting point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228600" marT="228600" marB="2286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143000" y="9144000"/>
            <a:ext cx="1600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A76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MOS = Mean Opinion Score (1–5). Sources: published literature and the experimental results of this thesis.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2952598"/>
            <a:ext cx="3810305" cy="5715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5143500" y="2952598"/>
            <a:ext cx="3810305" cy="5715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9144000" y="2952598"/>
            <a:ext cx="3810305" cy="5715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13144500" y="2952598"/>
            <a:ext cx="4000500" cy="5715000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8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9" name="Image 1" descr="gen-dedup-4ee3cfa203b849b5454cccf02c9b0b6e.png"/>
          <p:cNvPicPr>
            <a:picLocks noChangeAspect="1"/>
          </p:cNvPicPr>
          <p:nvPr/>
        </p:nvPicPr>
        <p:blipFill>
          <a:blip r:embed="rId4"/>
          <a:srcRect l="-205" r="-205"/>
          <a:stretch/>
        </p:blipFill>
        <p:spPr>
          <a:xfrm>
            <a:off x="1143000" y="2952598"/>
            <a:ext cx="3810305" cy="75895"/>
          </a:xfrm>
          <a:prstGeom prst="rect">
            <a:avLst/>
          </a:prstGeom>
        </p:spPr>
      </p:pic>
      <p:pic>
        <p:nvPicPr>
          <p:cNvPr id="10" name="Image 2" descr="gen-dedup-1324ffa2e245868b5924cf46bc3d5b04.png"/>
          <p:cNvPicPr>
            <a:picLocks noChangeAspect="1"/>
          </p:cNvPicPr>
          <p:nvPr/>
        </p:nvPicPr>
        <p:blipFill>
          <a:blip r:embed="rId5"/>
          <a:srcRect l="-205" r="-205"/>
          <a:stretch/>
        </p:blipFill>
        <p:spPr>
          <a:xfrm>
            <a:off x="5143500" y="2952598"/>
            <a:ext cx="3810305" cy="75895"/>
          </a:xfrm>
          <a:prstGeom prst="rect">
            <a:avLst/>
          </a:prstGeom>
        </p:spPr>
      </p:pic>
      <p:pic>
        <p:nvPicPr>
          <p:cNvPr id="11" name="Image 3" descr="gen-dedup-b6765dc185a8f4fa23b7145317e953fd.png"/>
          <p:cNvPicPr>
            <a:picLocks noChangeAspect="1"/>
          </p:cNvPicPr>
          <p:nvPr/>
        </p:nvPicPr>
        <p:blipFill>
          <a:blip r:embed="rId6"/>
          <a:srcRect l="-205" r="-205"/>
          <a:stretch/>
        </p:blipFill>
        <p:spPr>
          <a:xfrm>
            <a:off x="9144000" y="2952598"/>
            <a:ext cx="3810305" cy="75895"/>
          </a:xfrm>
          <a:prstGeom prst="rect">
            <a:avLst/>
          </a:prstGeom>
        </p:spPr>
      </p:pic>
      <p:pic>
        <p:nvPicPr>
          <p:cNvPr id="12" name="Image 4" descr="gen-dedup-9ba1d63789b373b2799f8e7becbeeaef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143000" y="9048902"/>
            <a:ext cx="16002000" cy="91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THEORETICAL FOUNDATIONS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 a rule-based approach?</a:t>
            </a:r>
            <a:endParaRPr lang="en-US" sz="5100" dirty="0"/>
          </a:p>
        </p:txBody>
      </p:sp>
      <p:sp>
        <p:nvSpPr>
          <p:cNvPr id="15" name="Text 8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16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1429207" y="3333902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429207" y="3629254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Zero data requirement</a:t>
            </a:r>
            <a:endParaRPr lang="en-US" sz="2500" dirty="0"/>
          </a:p>
        </p:txBody>
      </p:sp>
      <p:sp>
        <p:nvSpPr>
          <p:cNvPr id="18" name="Text 11"/>
          <p:cNvSpPr txBox="1"/>
          <p:nvPr/>
        </p:nvSpPr>
        <p:spPr>
          <a:xfrm>
            <a:off x="1429207" y="4602175"/>
            <a:ext cx="3238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open speech corpus exists for Azerbaijani — a rule-based model bridges that gap.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5429707" y="3333902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5429707" y="3629254"/>
            <a:ext cx="3238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Transparency</a:t>
            </a:r>
            <a:endParaRPr lang="en-US" sz="2500" dirty="0"/>
          </a:p>
        </p:txBody>
      </p:sp>
      <p:sp>
        <p:nvSpPr>
          <p:cNvPr id="21" name="Text 14"/>
          <p:cNvSpPr txBox="1"/>
          <p:nvPr/>
        </p:nvSpPr>
        <p:spPr>
          <a:xfrm>
            <a:off x="5429707" y="4230014"/>
            <a:ext cx="3238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output is tied to a specific rule — never a black box. Errors are traceable and fixable.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9430207" y="3333902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9430207" y="3629254"/>
            <a:ext cx="32388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 compute footprint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9430207" y="4602175"/>
            <a:ext cx="3238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GPU required; runs in real time on standard CPUs and is suitable for mobile devices.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3430707" y="3333902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3430707" y="3629254"/>
            <a:ext cx="3429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Linguistic foundation</a:t>
            </a:r>
            <a:endParaRPr lang="en-US" sz="2500" dirty="0"/>
          </a:p>
        </p:txBody>
      </p:sp>
      <p:sp>
        <p:nvSpPr>
          <p:cNvPr id="27" name="Text 20"/>
          <p:cNvSpPr txBox="1"/>
          <p:nvPr/>
        </p:nvSpPr>
        <p:spPr>
          <a:xfrm>
            <a:off x="13430707" y="4602175"/>
            <a:ext cx="34290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7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rule base bootstraps future neural systems and can be used to automate corpus labelling.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286646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low-resource languages, rule-based TTS is not a “dead technology” — it is an interpretable baseline.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3429000" cy="2286000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4762195" y="2857500"/>
            <a:ext cx="3486607" cy="2286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4762195" y="2857500"/>
            <a:ext cx="57607" cy="228600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8382305" y="2857500"/>
            <a:ext cx="3486607" cy="2286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8" name="Shape 6"/>
          <p:cNvSpPr/>
          <p:nvPr/>
        </p:nvSpPr>
        <p:spPr>
          <a:xfrm>
            <a:off x="8382305" y="2857500"/>
            <a:ext cx="57607" cy="2286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12001500" y="2857500"/>
            <a:ext cx="5143500" cy="2286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8"/>
          <p:cNvSpPr/>
          <p:nvPr/>
        </p:nvSpPr>
        <p:spPr>
          <a:xfrm>
            <a:off x="1143000" y="6572707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Shape 9"/>
          <p:cNvSpPr/>
          <p:nvPr/>
        </p:nvSpPr>
        <p:spPr>
          <a:xfrm>
            <a:off x="5143500" y="6572707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10"/>
          <p:cNvSpPr/>
          <p:nvPr/>
        </p:nvSpPr>
        <p:spPr>
          <a:xfrm>
            <a:off x="9144000" y="6572707"/>
            <a:ext cx="38295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Shape 11"/>
          <p:cNvSpPr/>
          <p:nvPr/>
        </p:nvSpPr>
        <p:spPr>
          <a:xfrm>
            <a:off x="13144500" y="6572707"/>
            <a:ext cx="40197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14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15" name="Image 1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143000" y="6191402"/>
            <a:ext cx="761695" cy="2834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LANGUAGE FEATURES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Phonetic base of Azerbaijani</a:t>
            </a:r>
            <a:endParaRPr lang="en-US" sz="5100" dirty="0"/>
          </a:p>
        </p:txBody>
      </p:sp>
      <p:sp>
        <p:nvSpPr>
          <p:cNvPr id="18" name="Text 14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16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524305" y="3143707"/>
            <a:ext cx="2857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32</a:t>
            </a:r>
            <a:endParaRPr lang="en-US" sz="9000" dirty="0"/>
          </a:p>
        </p:txBody>
      </p:sp>
      <p:sp>
        <p:nvSpPr>
          <p:cNvPr id="20" name="Text 16"/>
          <p:cNvSpPr txBox="1"/>
          <p:nvPr/>
        </p:nvSpPr>
        <p:spPr>
          <a:xfrm>
            <a:off x="1524305" y="4419295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524305" y="4705502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Latin-based alphabet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143500" y="3143707"/>
            <a:ext cx="2857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</a:t>
            </a:r>
            <a:endParaRPr lang="en-US" sz="9000" dirty="0"/>
          </a:p>
        </p:txBody>
      </p:sp>
      <p:sp>
        <p:nvSpPr>
          <p:cNvPr id="23" name="Text 19"/>
          <p:cNvSpPr txBox="1"/>
          <p:nvPr/>
        </p:nvSpPr>
        <p:spPr>
          <a:xfrm>
            <a:off x="5143500" y="4419295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vowels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143500" y="4705502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a, e, ə, i, ı, o, ö, u, ü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62695" y="3143707"/>
            <a:ext cx="2857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</a:t>
            </a:r>
            <a:endParaRPr lang="en-US" sz="9000" dirty="0"/>
          </a:p>
        </p:txBody>
      </p:sp>
      <p:sp>
        <p:nvSpPr>
          <p:cNvPr id="26" name="Text 22"/>
          <p:cNvSpPr txBox="1"/>
          <p:nvPr/>
        </p:nvSpPr>
        <p:spPr>
          <a:xfrm>
            <a:off x="8762695" y="4419295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consonants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8762695" y="4705502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including ç, ş, ğ, x, q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2382805" y="3143707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SYLLABLE STRUCTURE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2382805" y="3457346"/>
            <a:ext cx="45720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150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(C) V (C) (C)</a:t>
            </a:r>
            <a:endParaRPr lang="en-US" sz="3600" dirty="0"/>
          </a:p>
        </p:txBody>
      </p:sp>
      <p:sp>
        <p:nvSpPr>
          <p:cNvPr id="30" name="Text 26"/>
          <p:cNvSpPr txBox="1"/>
          <p:nvPr/>
        </p:nvSpPr>
        <p:spPr>
          <a:xfrm>
            <a:off x="12382805" y="4190695"/>
            <a:ext cx="457200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Onset-maximisation: during syllable splitting, consonants attach to the following onset whenever possible.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143000" y="5810098"/>
            <a:ext cx="1600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GRAPHEME → PHONEME: SELECTED ALLOPHONIC RULES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429207" y="6762902"/>
            <a:ext cx="3238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/k/ /g/</a:t>
            </a:r>
            <a:endParaRPr lang="en-US" sz="3100" dirty="0"/>
          </a:p>
        </p:txBody>
      </p:sp>
      <p:sp>
        <p:nvSpPr>
          <p:cNvPr id="33" name="Text 29"/>
          <p:cNvSpPr txBox="1"/>
          <p:nvPr/>
        </p:nvSpPr>
        <p:spPr>
          <a:xfrm>
            <a:off x="1429207" y="7410298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Palatalisation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429207" y="7733995"/>
            <a:ext cx="3238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Softens near front vowels (e, ə, i, ö, ü):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kim → [cim]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5429707" y="6762902"/>
            <a:ext cx="3238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/ğ/</a:t>
            </a:r>
            <a:endParaRPr lang="en-US" sz="3100" dirty="0"/>
          </a:p>
        </p:txBody>
      </p:sp>
      <p:sp>
        <p:nvSpPr>
          <p:cNvPr id="36" name="Text 32"/>
          <p:cNvSpPr txBox="1"/>
          <p:nvPr/>
        </p:nvSpPr>
        <p:spPr>
          <a:xfrm>
            <a:off x="5429707" y="7410298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Allophonic variation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5429707" y="7733995"/>
            <a:ext cx="32388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Realised as a fricative or as vowel-lengthening depending on position: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dağ → [daː]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430207" y="6762902"/>
            <a:ext cx="3238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Final obstr.</a:t>
            </a:r>
            <a:endParaRPr lang="en-US" sz="3100" dirty="0"/>
          </a:p>
        </p:txBody>
      </p:sp>
      <p:sp>
        <p:nvSpPr>
          <p:cNvPr id="39" name="Text 35"/>
          <p:cNvSpPr txBox="1"/>
          <p:nvPr/>
        </p:nvSpPr>
        <p:spPr>
          <a:xfrm>
            <a:off x="9430207" y="7410298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Devoicing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9430207" y="7733995"/>
            <a:ext cx="3238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Word-finally /b/→[p], /d/→[t], /g/→[k]: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kitab → [kitap]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13430707" y="6762902"/>
            <a:ext cx="342900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/n/ → /ŋ/</a:t>
            </a:r>
            <a:endParaRPr lang="en-US" sz="3100" dirty="0"/>
          </a:p>
        </p:txBody>
      </p:sp>
      <p:sp>
        <p:nvSpPr>
          <p:cNvPr id="42" name="Text 38"/>
          <p:cNvSpPr txBox="1"/>
          <p:nvPr/>
        </p:nvSpPr>
        <p:spPr>
          <a:xfrm>
            <a:off x="13430707" y="7410298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Nasal assimilation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3430707" y="7733995"/>
            <a:ext cx="3429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/n/ velarises before velars: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manqal → [maŋgal]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9525305" y="2762402"/>
            <a:ext cx="7619695" cy="2857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1143000" y="6858000"/>
            <a:ext cx="3829507" cy="23527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1143000" y="6858000"/>
            <a:ext cx="3829507" cy="57607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5143500" y="6858000"/>
            <a:ext cx="3829507" cy="23527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8" name="Shape 6"/>
          <p:cNvSpPr/>
          <p:nvPr/>
        </p:nvSpPr>
        <p:spPr>
          <a:xfrm>
            <a:off x="5143500" y="6858000"/>
            <a:ext cx="3829507" cy="57607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9144000" y="6858000"/>
            <a:ext cx="3829507" cy="23527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8"/>
          <p:cNvSpPr/>
          <p:nvPr/>
        </p:nvSpPr>
        <p:spPr>
          <a:xfrm>
            <a:off x="9144000" y="6858000"/>
            <a:ext cx="3829507" cy="57607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Shape 9"/>
          <p:cNvSpPr/>
          <p:nvPr/>
        </p:nvSpPr>
        <p:spPr>
          <a:xfrm>
            <a:off x="13144500" y="6858000"/>
            <a:ext cx="4019702" cy="2352751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10"/>
          <p:cNvSpPr/>
          <p:nvPr/>
        </p:nvSpPr>
        <p:spPr>
          <a:xfrm>
            <a:off x="13144500" y="6858000"/>
            <a:ext cx="4019702" cy="57607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13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14" name="Image 1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143000" y="6476695"/>
            <a:ext cx="761695" cy="283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LANGUAGE FEATURES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429207"/>
            <a:ext cx="1627449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Vowel harmony — the engine of Azerbaijani</a:t>
            </a:r>
            <a:endParaRPr lang="en-US" sz="5100" dirty="0"/>
          </a:p>
        </p:txBody>
      </p:sp>
      <p:sp>
        <p:nvSpPr>
          <p:cNvPr id="17" name="Text 13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2762402"/>
            <a:ext cx="8001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3019349"/>
            <a:ext cx="80010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A4A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The root vowel dictates whether suffix vowels are </a:t>
            </a:r>
            <a:r>
              <a:rPr lang="en-US" sz="24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front / back</a:t>
            </a:r>
            <a:r>
              <a:rPr lang="en-US" sz="2400" b="1" dirty="0">
                <a:solidFill>
                  <a:srgbClr val="0B2A4A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 and </a:t>
            </a:r>
            <a:r>
              <a:rPr lang="en-US" sz="24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rounded / unrounded</a:t>
            </a:r>
            <a:r>
              <a:rPr lang="en-US" sz="2400" b="1" dirty="0">
                <a:solidFill>
                  <a:srgbClr val="0B2A4A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.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9810598" y="2952598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OF THE 9 VOWELS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239805" y="3305556"/>
            <a:ext cx="2762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4097305" y="3305556"/>
            <a:ext cx="2762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9810598" y="3791102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UNROUNDED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1239805" y="3562502"/>
            <a:ext cx="2762402" cy="619963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1397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 · ə · i</a:t>
            </a:r>
            <a:endParaRPr lang="en-US" sz="2100" dirty="0"/>
          </a:p>
        </p:txBody>
      </p:sp>
      <p:sp>
        <p:nvSpPr>
          <p:cNvPr id="25" name="Text 21"/>
          <p:cNvSpPr txBox="1"/>
          <p:nvPr/>
        </p:nvSpPr>
        <p:spPr>
          <a:xfrm>
            <a:off x="14097305" y="3562502"/>
            <a:ext cx="2762402" cy="619963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1397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ı</a:t>
            </a:r>
            <a:endParaRPr lang="en-US" sz="2100" dirty="0"/>
          </a:p>
        </p:txBody>
      </p:sp>
      <p:sp>
        <p:nvSpPr>
          <p:cNvPr id="26" name="Text 22"/>
          <p:cNvSpPr txBox="1"/>
          <p:nvPr/>
        </p:nvSpPr>
        <p:spPr>
          <a:xfrm>
            <a:off x="9810598" y="4505249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1239805" y="4276649"/>
            <a:ext cx="2762402" cy="619963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1397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ö · ü</a:t>
            </a:r>
            <a:endParaRPr lang="en-US" sz="2100" dirty="0"/>
          </a:p>
        </p:txBody>
      </p:sp>
      <p:sp>
        <p:nvSpPr>
          <p:cNvPr id="28" name="Text 24"/>
          <p:cNvSpPr txBox="1"/>
          <p:nvPr/>
        </p:nvSpPr>
        <p:spPr>
          <a:xfrm>
            <a:off x="14097305" y="4276649"/>
            <a:ext cx="2762402" cy="619963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39700" rIns="139700" bIns="1397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· u</a:t>
            </a:r>
            <a:endParaRPr lang="en-US" sz="2100" dirty="0"/>
          </a:p>
        </p:txBody>
      </p:sp>
      <p:sp>
        <p:nvSpPr>
          <p:cNvPr id="29" name="Text 25"/>
          <p:cNvSpPr txBox="1"/>
          <p:nvPr/>
        </p:nvSpPr>
        <p:spPr>
          <a:xfrm>
            <a:off x="1143000" y="6096305"/>
            <a:ext cx="1600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— PRESENT-TENSE SUFFIX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429207" y="7086600"/>
            <a:ext cx="3238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-ır</a:t>
            </a:r>
            <a:endParaRPr lang="en-US" sz="3600" dirty="0"/>
          </a:p>
        </p:txBody>
      </p:sp>
      <p:sp>
        <p:nvSpPr>
          <p:cNvPr id="31" name="Text 27"/>
          <p:cNvSpPr txBox="1"/>
          <p:nvPr/>
        </p:nvSpPr>
        <p:spPr>
          <a:xfrm>
            <a:off x="1429207" y="7724851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· UNROUNDED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429207" y="8153705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E172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yaz</a:t>
            </a:r>
            <a:r>
              <a:rPr lang="en-US" sz="21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ır</a:t>
            </a:r>
            <a:endParaRPr lang="en-US" sz="2100" dirty="0"/>
          </a:p>
        </p:txBody>
      </p:sp>
      <p:sp>
        <p:nvSpPr>
          <p:cNvPr id="33" name="Text 29"/>
          <p:cNvSpPr txBox="1"/>
          <p:nvPr/>
        </p:nvSpPr>
        <p:spPr>
          <a:xfrm>
            <a:off x="1429207" y="8591702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vowel: </a:t>
            </a:r>
            <a:r>
              <a:rPr lang="en-US" sz="1300" b="1" dirty="0">
                <a:solidFill>
                  <a:srgbClr val="0B2A4A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5429707" y="7086600"/>
            <a:ext cx="3238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-ir</a:t>
            </a:r>
            <a:endParaRPr lang="en-US" sz="3600" dirty="0"/>
          </a:p>
        </p:txBody>
      </p:sp>
      <p:sp>
        <p:nvSpPr>
          <p:cNvPr id="35" name="Text 31"/>
          <p:cNvSpPr txBox="1"/>
          <p:nvPr/>
        </p:nvSpPr>
        <p:spPr>
          <a:xfrm>
            <a:off x="5429707" y="7724851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· UNROUNDED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429707" y="8153705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E172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gəl</a:t>
            </a:r>
            <a:r>
              <a:rPr lang="en-US" sz="21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ir</a:t>
            </a:r>
            <a:endParaRPr lang="en-US" sz="2100" dirty="0"/>
          </a:p>
        </p:txBody>
      </p:sp>
      <p:sp>
        <p:nvSpPr>
          <p:cNvPr id="37" name="Text 33"/>
          <p:cNvSpPr txBox="1"/>
          <p:nvPr/>
        </p:nvSpPr>
        <p:spPr>
          <a:xfrm>
            <a:off x="5429707" y="8591702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vowel: </a:t>
            </a:r>
            <a:r>
              <a:rPr lang="en-US" sz="1300" b="1" dirty="0">
                <a:solidFill>
                  <a:srgbClr val="0B2A4A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ə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430207" y="7086600"/>
            <a:ext cx="3238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-ur</a:t>
            </a:r>
            <a:endParaRPr lang="en-US" sz="3600" dirty="0"/>
          </a:p>
        </p:txBody>
      </p:sp>
      <p:sp>
        <p:nvSpPr>
          <p:cNvPr id="39" name="Text 35"/>
          <p:cNvSpPr txBox="1"/>
          <p:nvPr/>
        </p:nvSpPr>
        <p:spPr>
          <a:xfrm>
            <a:off x="9430207" y="7724851"/>
            <a:ext cx="323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· ROUNDED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9430207" y="8153705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E172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oxu</a:t>
            </a:r>
            <a:r>
              <a:rPr lang="en-US" sz="21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yur</a:t>
            </a:r>
            <a:endParaRPr lang="en-US" sz="2100" dirty="0"/>
          </a:p>
        </p:txBody>
      </p:sp>
      <p:sp>
        <p:nvSpPr>
          <p:cNvPr id="41" name="Text 37"/>
          <p:cNvSpPr txBox="1"/>
          <p:nvPr/>
        </p:nvSpPr>
        <p:spPr>
          <a:xfrm>
            <a:off x="9430207" y="8591702"/>
            <a:ext cx="3238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vowel: </a:t>
            </a:r>
            <a:r>
              <a:rPr lang="en-US" sz="1300" b="1" dirty="0">
                <a:solidFill>
                  <a:srgbClr val="0B2A4A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u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13430707" y="7086600"/>
            <a:ext cx="34290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-ür</a:t>
            </a:r>
            <a:endParaRPr lang="en-US" sz="3600" dirty="0"/>
          </a:p>
        </p:txBody>
      </p:sp>
      <p:sp>
        <p:nvSpPr>
          <p:cNvPr id="43" name="Text 39"/>
          <p:cNvSpPr txBox="1"/>
          <p:nvPr/>
        </p:nvSpPr>
        <p:spPr>
          <a:xfrm>
            <a:off x="13430707" y="7724851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· ROUNDED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13430707" y="8153705"/>
            <a:ext cx="342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E172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gör</a:t>
            </a:r>
            <a:r>
              <a:rPr lang="en-US" sz="21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ür</a:t>
            </a:r>
            <a:endParaRPr lang="en-US" sz="2100" dirty="0"/>
          </a:p>
        </p:txBody>
      </p:sp>
      <p:sp>
        <p:nvSpPr>
          <p:cNvPr id="45" name="Text 41"/>
          <p:cNvSpPr txBox="1"/>
          <p:nvPr/>
        </p:nvSpPr>
        <p:spPr>
          <a:xfrm>
            <a:off x="13430707" y="8591702"/>
            <a:ext cx="3429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vowel: </a:t>
            </a:r>
            <a:r>
              <a:rPr lang="en-US" sz="1300" b="1" dirty="0">
                <a:solidFill>
                  <a:srgbClr val="0B2A4A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ö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9430207"/>
            <a:ext cx="1600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A768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These rules are encoded in JSON in </a:t>
            </a:r>
            <a:r>
              <a:rPr lang="en-US" sz="1300" i="1" dirty="0">
                <a:solidFill>
                  <a:srgbClr val="6A7686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g2p_rules.json</a:t>
            </a:r>
            <a:r>
              <a:rPr lang="en-US" sz="1300" i="1" dirty="0">
                <a:solidFill>
                  <a:srgbClr val="6A7686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4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5" name="Image 1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143000" y="3143707"/>
            <a:ext cx="761695" cy="28346"/>
          </a:xfrm>
          <a:prstGeom prst="rect">
            <a:avLst/>
          </a:prstGeom>
        </p:spPr>
      </p:pic>
      <p:pic>
        <p:nvPicPr>
          <p:cNvPr id="6" name="Image 2" descr="gen-dedup-e262d3ef0eaf8b555abc62c4907669a2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8667598" y="2762402"/>
            <a:ext cx="9144" cy="6667805"/>
          </a:xfrm>
          <a:prstGeom prst="rect">
            <a:avLst/>
          </a:prstGeom>
        </p:spPr>
      </p:pic>
      <p:pic>
        <p:nvPicPr>
          <p:cNvPr id="7" name="Image 3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9048902" y="3143707"/>
            <a:ext cx="761695" cy="28346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LANGUAGE FEATURES</a:t>
            </a:r>
            <a:endParaRPr lang="en-US" sz="13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Stress and intonation model</a:t>
            </a:r>
            <a:endParaRPr lang="en-US" sz="5100" dirty="0"/>
          </a:p>
        </p:txBody>
      </p:sp>
      <p:sp>
        <p:nvSpPr>
          <p:cNvPr id="10" name="Text 4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27624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— 4-LEVEL PRIORITY HIERARCHY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1143000" y="4381805"/>
            <a:ext cx="7239305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Text 7"/>
          <p:cNvSpPr txBox="1"/>
          <p:nvPr/>
        </p:nvSpPr>
        <p:spPr>
          <a:xfrm>
            <a:off x="1790395" y="3696005"/>
            <a:ext cx="56391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Negation suffix (-ma / -mə)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790395" y="3981298"/>
            <a:ext cx="6324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shifts to the syllable before negation: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gə‑lir → gə‑lir‑mə‑di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1143000" y="5248656"/>
            <a:ext cx="7239305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Text 10"/>
          <p:cNvSpPr txBox="1"/>
          <p:nvPr/>
        </p:nvSpPr>
        <p:spPr>
          <a:xfrm>
            <a:off x="1790395" y="4562856"/>
            <a:ext cx="3657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Clitics and function words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790395" y="4848149"/>
            <a:ext cx="43214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interrogative clitic </a:t>
            </a:r>
            <a:r>
              <a:rPr lang="en-US" sz="1300" dirty="0">
                <a:solidFill>
                  <a:srgbClr val="2B3A4D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‑mı/‑mi</a:t>
            </a: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unstressed.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143000" y="6087161"/>
            <a:ext cx="7239305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9" name="Text 13"/>
          <p:cNvSpPr txBox="1"/>
          <p:nvPr/>
        </p:nvSpPr>
        <p:spPr>
          <a:xfrm>
            <a:off x="1790395" y="5429707"/>
            <a:ext cx="4905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Auxiliary parts of speech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790395" y="5715000"/>
            <a:ext cx="55915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Postpositions and conjunctions carry no independent stress.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790395" y="6267298"/>
            <a:ext cx="52294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— final syllable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790395" y="6553505"/>
            <a:ext cx="59152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none of the above apply, stress falls on the word-final syllable.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048902" y="2762402"/>
            <a:ext cx="8097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INTONATION — 5 SENTENCE TYPES (ToBI)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48902" y="3524098"/>
          <a:ext cx="8096097" cy="3432046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9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9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SENTENCE TYPE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TONE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A76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F0 CONTOUR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Declarative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H*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fall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/ No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L*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rise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Wh-question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H*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tone on the wh-word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Exclamatory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H*+L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Sharp rise–fall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Imperative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A22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H*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B3A4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Sustained high tone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705" marR="15270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18"/>
          <p:cNvSpPr txBox="1"/>
          <p:nvPr/>
        </p:nvSpPr>
        <p:spPr>
          <a:xfrm>
            <a:off x="9048902" y="8762695"/>
            <a:ext cx="8241487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A76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ToBI = Tones and Break Indices — an international prosodic annotation standard.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3143707"/>
            <a:ext cx="16002000" cy="666598"/>
          </a:xfrm>
          <a:prstGeom prst="rect">
            <a:avLst/>
          </a:prstGeom>
          <a:solidFill>
            <a:srgbClr val="EAEF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5" name="Image 0" descr="gen-dedup-509db3d6f519a4b909907285478a803f.png"/>
          <p:cNvPicPr>
            <a:picLocks noChangeAspect="1"/>
          </p:cNvPicPr>
          <p:nvPr/>
        </p:nvPicPr>
        <p:blipFill>
          <a:blip r:embed="rId3"/>
          <a:srcRect t="-399" b="-399"/>
          <a:stretch/>
        </p:blipFill>
        <p:spPr>
          <a:xfrm>
            <a:off x="2667305" y="5524805"/>
            <a:ext cx="14097305" cy="19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7144207"/>
            <a:ext cx="16002000" cy="666598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7" name="Image 1" descr="gen-dedup-cfc304a6ff6b7471c886aeceb308770f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24305" y="4381805"/>
            <a:ext cx="28959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Shape 5"/>
          <p:cNvSpPr/>
          <p:nvPr/>
        </p:nvSpPr>
        <p:spPr>
          <a:xfrm>
            <a:off x="4667098" y="4381805"/>
            <a:ext cx="28959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6"/>
          <p:cNvSpPr/>
          <p:nvPr/>
        </p:nvSpPr>
        <p:spPr>
          <a:xfrm>
            <a:off x="7810805" y="4381805"/>
            <a:ext cx="28959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Shape 7"/>
          <p:cNvSpPr/>
          <p:nvPr/>
        </p:nvSpPr>
        <p:spPr>
          <a:xfrm>
            <a:off x="10953598" y="4381805"/>
            <a:ext cx="2895905" cy="2324405"/>
          </a:xfrm>
          <a:prstGeom prst="rect">
            <a:avLst/>
          </a:prstGeom>
          <a:solidFill>
            <a:srgbClr val="FFFFFF"/>
          </a:solidFill>
          <a:ln w="254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8"/>
          <p:cNvSpPr/>
          <p:nvPr/>
        </p:nvSpPr>
        <p:spPr>
          <a:xfrm>
            <a:off x="14097305" y="4381805"/>
            <a:ext cx="2857500" cy="2286000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Text 9"/>
          <p:cNvSpPr txBox="1"/>
          <p:nvPr/>
        </p:nvSpPr>
        <p:spPr>
          <a:xfrm>
            <a:off x="1143000" y="952805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429207"/>
            <a:ext cx="158822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System architecture — a 5-stage pipeline</a:t>
            </a:r>
            <a:endParaRPr lang="en-US" sz="5100" dirty="0"/>
          </a:p>
        </p:txBody>
      </p:sp>
      <p:sp>
        <p:nvSpPr>
          <p:cNvPr id="15" name="Text 11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524305" y="3419856"/>
            <a:ext cx="5623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508699" y="3314700"/>
            <a:ext cx="555315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«Bu axşam saat 19:30‑da görüşəcəyik.»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5804490" y="3409798"/>
            <a:ext cx="1228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UTF‑8 text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714500" y="4572000"/>
            <a:ext cx="2477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700" dirty="0"/>
          </a:p>
        </p:txBody>
      </p:sp>
      <p:sp>
        <p:nvSpPr>
          <p:cNvPr id="20" name="Text 16"/>
          <p:cNvSpPr txBox="1"/>
          <p:nvPr/>
        </p:nvSpPr>
        <p:spPr>
          <a:xfrm>
            <a:off x="1714500" y="5095951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normalisation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714500" y="5442509"/>
            <a:ext cx="2477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Symbols, dates, time, numbers, abbreviations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714500" y="5964631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8-step cascade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858207" y="4572000"/>
            <a:ext cx="2477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700" dirty="0"/>
          </a:p>
        </p:txBody>
      </p:sp>
      <p:sp>
        <p:nvSpPr>
          <p:cNvPr id="24" name="Text 20"/>
          <p:cNvSpPr txBox="1"/>
          <p:nvPr/>
        </p:nvSpPr>
        <p:spPr>
          <a:xfrm>
            <a:off x="4858207" y="5095951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G2P conversion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858207" y="5442509"/>
            <a:ext cx="2477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Grapheme → phoneme with contextual rules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858207" y="5964631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lookahead/lookbehind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4572000"/>
            <a:ext cx="2477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700" dirty="0"/>
          </a:p>
        </p:txBody>
      </p:sp>
      <p:sp>
        <p:nvSpPr>
          <p:cNvPr id="28" name="Text 24"/>
          <p:cNvSpPr txBox="1"/>
          <p:nvPr/>
        </p:nvSpPr>
        <p:spPr>
          <a:xfrm>
            <a:off x="8001000" y="5095951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assigner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001000" y="5442509"/>
            <a:ext cx="2477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4-level priority hierarchy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8001000" y="5750662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stress_rules.json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1144707" y="4572000"/>
            <a:ext cx="2477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2700" dirty="0"/>
          </a:p>
        </p:txBody>
      </p:sp>
      <p:sp>
        <p:nvSpPr>
          <p:cNvPr id="32" name="Text 28"/>
          <p:cNvSpPr txBox="1"/>
          <p:nvPr/>
        </p:nvSpPr>
        <p:spPr>
          <a:xfrm>
            <a:off x="11144707" y="5095951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Prosody engine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1144707" y="5442509"/>
            <a:ext cx="265999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Duration, F0 contour, pauses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1144707" y="5750662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5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ToBI-based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4287500" y="4572000"/>
            <a:ext cx="2477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2700" dirty="0"/>
          </a:p>
        </p:txBody>
      </p:sp>
      <p:sp>
        <p:nvSpPr>
          <p:cNvPr id="36" name="Text 32"/>
          <p:cNvSpPr txBox="1"/>
          <p:nvPr/>
        </p:nvSpPr>
        <p:spPr>
          <a:xfrm>
            <a:off x="14287500" y="5095951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Synthesizer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4287500" y="5442509"/>
            <a:ext cx="2477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Waveform generation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14287500" y="5750662"/>
            <a:ext cx="2477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espeak‑ng (subprocess)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524305" y="7391095"/>
            <a:ext cx="7342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7600493" y="7315200"/>
            <a:ext cx="303855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WAV / live audio stream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15492679" y="7391095"/>
            <a:ext cx="160843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kHz · mono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8287207"/>
            <a:ext cx="1600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" y="8620049"/>
            <a:ext cx="5181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module independently testable</a:t>
            </a:r>
            <a:endParaRPr lang="en-US" sz="1600" dirty="0"/>
          </a:p>
        </p:txBody>
      </p:sp>
      <p:sp>
        <p:nvSpPr>
          <p:cNvPr id="44" name="Text 40"/>
          <p:cNvSpPr txBox="1"/>
          <p:nvPr/>
        </p:nvSpPr>
        <p:spPr>
          <a:xfrm>
            <a:off x="6553505" y="8620049"/>
            <a:ext cx="5181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Rules live in JSON configuration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11963095" y="8620049"/>
            <a:ext cx="51819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model weights anywhere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3143707"/>
            <a:ext cx="8001000" cy="2857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9334195" y="3143707"/>
            <a:ext cx="7810805" cy="2857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1143000" y="6286500"/>
            <a:ext cx="8001000" cy="2857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9334195" y="6286500"/>
            <a:ext cx="7810805" cy="2857500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8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429207"/>
            <a:ext cx="1470629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Inside the modules — a worked example</a:t>
            </a:r>
            <a:endParaRPr lang="en-US" sz="51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286000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steps a sentence travels from input text to final waveform.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3372307"/>
            <a:ext cx="53309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3100" dirty="0"/>
          </a:p>
        </p:txBody>
      </p:sp>
      <p:sp>
        <p:nvSpPr>
          <p:cNvPr id="14" name="Text 11"/>
          <p:cNvSpPr txBox="1"/>
          <p:nvPr/>
        </p:nvSpPr>
        <p:spPr>
          <a:xfrm>
            <a:off x="2036369" y="3524098"/>
            <a:ext cx="25630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NORMALISATION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4153205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361895" y="4153205"/>
            <a:ext cx="64968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 axşam saat 19:30‑da görüşəcəyik.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429207" y="4524451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361895" y="4524451"/>
            <a:ext cx="64968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 axşam saat on doqquz otuzda görüşəcəyik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429207" y="4943246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8-step cascade: symbols → dates → time → ordinals → cardinals → Roman numerals → abbreviations → regex cleanup.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20402" y="3372307"/>
            <a:ext cx="53309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3100" dirty="0"/>
          </a:p>
        </p:txBody>
      </p:sp>
      <p:sp>
        <p:nvSpPr>
          <p:cNvPr id="21" name="Text 18"/>
          <p:cNvSpPr txBox="1"/>
          <p:nvPr/>
        </p:nvSpPr>
        <p:spPr>
          <a:xfrm>
            <a:off x="10227564" y="3519526"/>
            <a:ext cx="353415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G2P — GRAPHEME → PHONEME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620402" y="4153205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554005" y="4153205"/>
            <a:ext cx="6305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görüşəcəyik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620402" y="4515307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554005" y="4515307"/>
            <a:ext cx="63057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[ɟœɾyʃæd͡ʒæjic]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620402" y="4943246"/>
            <a:ext cx="79251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Context-sensitive: /k/ becomes [c] </a:t>
            </a:r>
            <a:r>
              <a:rPr lang="en-US" sz="1200" dirty="0">
                <a:solidFill>
                  <a:srgbClr val="6A7686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in the environment of front vowels</a:t>
            </a: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(palatalisation).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429207" y="6515100"/>
            <a:ext cx="53309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3100" dirty="0"/>
          </a:p>
        </p:txBody>
      </p:sp>
      <p:sp>
        <p:nvSpPr>
          <p:cNvPr id="28" name="Text 25"/>
          <p:cNvSpPr txBox="1"/>
          <p:nvPr/>
        </p:nvSpPr>
        <p:spPr>
          <a:xfrm>
            <a:off x="2036369" y="6667805"/>
            <a:ext cx="2324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PLACEMENT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29207" y="7295998"/>
            <a:ext cx="101132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SYLLABLES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2361895" y="7295998"/>
            <a:ext cx="64968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gö ‑ rü ‑ şə ‑ cə ‑ </a:t>
            </a:r>
            <a:r>
              <a:rPr lang="en-US" sz="15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yik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429207" y="7667244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2361895" y="7667244"/>
            <a:ext cx="64968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 — default → final syllable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429207" y="8067751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(negation) does not apply; P2 and P3 do not apply either — stress falls on the final syllable.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620402" y="6515100"/>
            <a:ext cx="1841602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+ 05</a:t>
            </a:r>
            <a:endParaRPr lang="en-US" sz="3100" dirty="0"/>
          </a:p>
        </p:txBody>
      </p:sp>
      <p:sp>
        <p:nvSpPr>
          <p:cNvPr id="35" name="Text 32"/>
          <p:cNvSpPr txBox="1"/>
          <p:nvPr/>
        </p:nvSpPr>
        <p:spPr>
          <a:xfrm>
            <a:off x="11083442" y="666780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PROSODY + SYNTHESIS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620402" y="7295998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TONE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554005" y="7295998"/>
            <a:ext cx="6305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H* · declarative contour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620402" y="7629754"/>
            <a:ext cx="90982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554005" y="7629754"/>
            <a:ext cx="6305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+25 % lengthening on the stressed syllable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620402" y="7962595"/>
            <a:ext cx="762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554005" y="7962595"/>
            <a:ext cx="63057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word-end = 80 ms · sentence-end = 350 ms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9620402" y="8315554"/>
            <a:ext cx="7239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espeak‑ng ← phonetic_string + prosody_marks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408737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9048902" y="8287207"/>
            <a:ext cx="8096098" cy="857707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5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6" name="Image 1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143000" y="3238805"/>
            <a:ext cx="761695" cy="28346"/>
          </a:xfrm>
          <a:prstGeom prst="rect">
            <a:avLst/>
          </a:prstGeom>
        </p:spPr>
      </p:pic>
      <p:pic>
        <p:nvPicPr>
          <p:cNvPr id="7" name="Image 2" descr="gen-dedup-4b5a8e9f8869b57674187ce28bb24099.png"/>
          <p:cNvPicPr>
            <a:picLocks noChangeAspect="1"/>
          </p:cNvPicPr>
          <p:nvPr/>
        </p:nvPicPr>
        <p:blipFill>
          <a:blip r:embed="rId5"/>
          <a:srcRect t="-2083" b="-2083"/>
          <a:stretch/>
        </p:blipFill>
        <p:spPr>
          <a:xfrm>
            <a:off x="8667598" y="2857500"/>
            <a:ext cx="9144" cy="6476695"/>
          </a:xfrm>
          <a:prstGeom prst="rect">
            <a:avLst/>
          </a:prstGeom>
        </p:spPr>
      </p:pic>
      <p:pic>
        <p:nvPicPr>
          <p:cNvPr id="8" name="Image 3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9048902" y="3238805"/>
            <a:ext cx="761695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IMPLEMENTATION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Technical stack and rule engineering</a:t>
            </a:r>
            <a:endParaRPr lang="en-US" sz="5100" dirty="0"/>
          </a:p>
        </p:txBody>
      </p:sp>
      <p:sp>
        <p:nvSpPr>
          <p:cNvPr id="11" name="Text 5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857500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STACK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1143000" y="3619195"/>
            <a:ext cx="3534156" cy="1019556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Text 8"/>
          <p:cNvSpPr txBox="1"/>
          <p:nvPr/>
        </p:nvSpPr>
        <p:spPr>
          <a:xfrm>
            <a:off x="1371600" y="3847795"/>
            <a:ext cx="30769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3.11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371600" y="4200754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848149" y="3619195"/>
            <a:ext cx="3534156" cy="1019556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Text 11"/>
          <p:cNvSpPr txBox="1"/>
          <p:nvPr/>
        </p:nvSpPr>
        <p:spPr>
          <a:xfrm>
            <a:off x="5076749" y="3847795"/>
            <a:ext cx="3076956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espeak‑ng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076749" y="4219956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waveform synthesiser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1143000" y="4809744"/>
            <a:ext cx="3534156" cy="1000354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Text 14"/>
          <p:cNvSpPr txBox="1"/>
          <p:nvPr/>
        </p:nvSpPr>
        <p:spPr>
          <a:xfrm>
            <a:off x="1371600" y="5038344"/>
            <a:ext cx="30769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 · json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5391302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engine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8149" y="4809744"/>
            <a:ext cx="3534156" cy="1000354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3" name="Text 17"/>
          <p:cNvSpPr txBox="1"/>
          <p:nvPr/>
        </p:nvSpPr>
        <p:spPr>
          <a:xfrm>
            <a:off x="5076749" y="5038344"/>
            <a:ext cx="30769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dataclasses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076749" y="5391302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linguistic units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43000" y="5982005"/>
            <a:ext cx="3534156" cy="1000354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6" name="Text 20"/>
          <p:cNvSpPr txBox="1"/>
          <p:nvPr/>
        </p:nvSpPr>
        <p:spPr>
          <a:xfrm>
            <a:off x="1371600" y="6210605"/>
            <a:ext cx="30769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subprocess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371600" y="6562649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talks to the synthesiser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848149" y="5982005"/>
            <a:ext cx="3534156" cy="1000354"/>
          </a:xfrm>
          <a:prstGeom prst="rect">
            <a:avLst/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9" name="Text 23"/>
          <p:cNvSpPr txBox="1"/>
          <p:nvPr/>
        </p:nvSpPr>
        <p:spPr>
          <a:xfrm>
            <a:off x="5076749" y="6210605"/>
            <a:ext cx="3076956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 · numpy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5076749" y="6562649"/>
            <a:ext cx="30769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and DSP (optional)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9048902" y="2857500"/>
            <a:ext cx="8097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 BASE — 4 JSON FILES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048902" y="4496105"/>
            <a:ext cx="8096098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3" name="Text 27"/>
          <p:cNvSpPr txBox="1"/>
          <p:nvPr/>
        </p:nvSpPr>
        <p:spPr>
          <a:xfrm>
            <a:off x="9048902" y="3619195"/>
            <a:ext cx="8097012" cy="7050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g2p_rules.json </a:t>
            </a: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Grapheme → phoneme maps, contextual exceptions (palatalisation, ğ allophony, devoicing).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048902" y="5382158"/>
            <a:ext cx="8096098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5" name="Text 29"/>
          <p:cNvSpPr txBox="1"/>
          <p:nvPr/>
        </p:nvSpPr>
        <p:spPr>
          <a:xfrm>
            <a:off x="9048902" y="4505249"/>
            <a:ext cx="8097012" cy="7050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stress_rules.json</a:t>
            </a:r>
            <a:r>
              <a:rPr lang="en-US" sz="1300" b="1" dirty="0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 </a:t>
            </a: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4-level priority hierarchy: negation, clitics, auxiliaries, default final syllable.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048902" y="6268212"/>
            <a:ext cx="8096098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7" name="Text 31"/>
          <p:cNvSpPr txBox="1"/>
          <p:nvPr/>
        </p:nvSpPr>
        <p:spPr>
          <a:xfrm>
            <a:off x="8962035" y="5468112"/>
            <a:ext cx="8097012" cy="7050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prosody_rules.json</a:t>
            </a:r>
            <a:r>
              <a:rPr lang="en-US" sz="1300" b="1" dirty="0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 </a:t>
            </a:r>
            <a:r>
              <a:rPr lang="en-US" sz="1500" dirty="0" err="1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ToBI</a:t>
            </a: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-based F0 contours, duration and pause parameters for the 5 sentence types.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9139428" y="6292601"/>
            <a:ext cx="809701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text_norm_rules.json</a:t>
            </a:r>
            <a:r>
              <a:rPr lang="en-US" sz="1300" b="1" dirty="0">
                <a:solidFill>
                  <a:srgbClr val="C9A227"/>
                </a:solidFill>
                <a:latin typeface="var(--mono)" pitchFamily="34" charset="0"/>
                <a:ea typeface="var(--mono)" pitchFamily="34" charset="-122"/>
                <a:cs typeface="var(--mono)" pitchFamily="34" charset="-120"/>
              </a:rPr>
              <a:t> </a:t>
            </a:r>
            <a:r>
              <a:rPr lang="en-US" sz="15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Spelled-out forms for dates, time, numbers, Roman numerals and abbreviations.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9334195" y="8553298"/>
            <a:ext cx="363108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LIVE OUTSIDE THE CODE →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14522501" y="8515807"/>
            <a:ext cx="278892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linguist can edit them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3810305" cy="272399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1143000" y="2857500"/>
            <a:ext cx="3810305" cy="57607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5143500" y="2857500"/>
            <a:ext cx="3810305" cy="272399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5143500" y="2857500"/>
            <a:ext cx="3810305" cy="57607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8" name="Shape 6"/>
          <p:cNvSpPr/>
          <p:nvPr/>
        </p:nvSpPr>
        <p:spPr>
          <a:xfrm>
            <a:off x="9144000" y="2857500"/>
            <a:ext cx="3810305" cy="2723998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9144000" y="2857500"/>
            <a:ext cx="3810305" cy="57607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8"/>
          <p:cNvSpPr/>
          <p:nvPr/>
        </p:nvSpPr>
        <p:spPr>
          <a:xfrm>
            <a:off x="13144500" y="2857500"/>
            <a:ext cx="4000500" cy="266730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Shape 9"/>
          <p:cNvSpPr/>
          <p:nvPr/>
        </p:nvSpPr>
        <p:spPr>
          <a:xfrm>
            <a:off x="1143000" y="6858000"/>
            <a:ext cx="8020202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10"/>
          <p:cNvSpPr/>
          <p:nvPr/>
        </p:nvSpPr>
        <p:spPr>
          <a:xfrm>
            <a:off x="9334195" y="6858000"/>
            <a:ext cx="7830007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13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14" name="Image 1" descr="gen-dedup-46f4bd2834ede443b0a4350605eb85f0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1143000" y="6476695"/>
            <a:ext cx="761695" cy="2834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EVALUATION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Experimental methodology</a:t>
            </a:r>
            <a:endParaRPr lang="en-US" sz="5100" dirty="0"/>
          </a:p>
        </p:txBody>
      </p:sp>
      <p:sp>
        <p:nvSpPr>
          <p:cNvPr id="17" name="Text 13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31437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429207" y="3438144"/>
            <a:ext cx="32388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</a:t>
            </a:r>
            <a:endParaRPr lang="en-US" sz="7200" dirty="0"/>
          </a:p>
        </p:txBody>
      </p:sp>
      <p:sp>
        <p:nvSpPr>
          <p:cNvPr id="20" name="Text 16"/>
          <p:cNvSpPr txBox="1"/>
          <p:nvPr/>
        </p:nvSpPr>
        <p:spPr>
          <a:xfrm>
            <a:off x="1429207" y="4486046"/>
            <a:ext cx="3238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phonetically balanced sentences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429207" y="5057546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all 32 letters and both stress regimes.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29707" y="31437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29707" y="3438144"/>
            <a:ext cx="32388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F5AA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7200" dirty="0"/>
          </a:p>
        </p:txBody>
      </p:sp>
      <p:sp>
        <p:nvSpPr>
          <p:cNvPr id="24" name="Text 20"/>
          <p:cNvSpPr txBox="1"/>
          <p:nvPr/>
        </p:nvSpPr>
        <p:spPr>
          <a:xfrm>
            <a:off x="5429707" y="4486046"/>
            <a:ext cx="375269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Azerbaijani listeners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429707" y="4809744"/>
            <a:ext cx="361188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range 22–48 · higher education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430207" y="31437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430207" y="3438144"/>
            <a:ext cx="32388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A884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156</a:t>
            </a:r>
            <a:endParaRPr lang="en-US" sz="7200" dirty="0"/>
          </a:p>
        </p:txBody>
      </p:sp>
      <p:sp>
        <p:nvSpPr>
          <p:cNvPr id="28" name="Text 24"/>
          <p:cNvSpPr txBox="1"/>
          <p:nvPr/>
        </p:nvSpPr>
        <p:spPr>
          <a:xfrm>
            <a:off x="9430207" y="4486046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unit tests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9430207" y="4809744"/>
            <a:ext cx="350946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61 linguistic phenomena.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13430707" y="3143707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3430707" y="3438144"/>
            <a:ext cx="3429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espeak‑ng</a:t>
            </a:r>
            <a:endParaRPr lang="en-US" sz="45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9FB4D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(plain, no rules)</a:t>
            </a:r>
            <a:endParaRPr lang="en-US" sz="4500" dirty="0"/>
          </a:p>
        </p:txBody>
      </p:sp>
      <p:sp>
        <p:nvSpPr>
          <p:cNvPr id="32" name="Text 28"/>
          <p:cNvSpPr txBox="1"/>
          <p:nvPr/>
        </p:nvSpPr>
        <p:spPr>
          <a:xfrm>
            <a:off x="13430707" y="4867351"/>
            <a:ext cx="34290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waveform synthesiser, but without the dedicated rule base attached.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1143000" y="6096305"/>
            <a:ext cx="1600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METRICS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429207" y="7086600"/>
            <a:ext cx="829361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</a:t>
            </a:r>
            <a:endParaRPr lang="en-US" sz="3600" dirty="0"/>
          </a:p>
        </p:txBody>
      </p:sp>
      <p:sp>
        <p:nvSpPr>
          <p:cNvPr id="35" name="Text 31"/>
          <p:cNvSpPr txBox="1"/>
          <p:nvPr/>
        </p:nvSpPr>
        <p:spPr>
          <a:xfrm>
            <a:off x="2423160" y="7372807"/>
            <a:ext cx="24670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OPINION SCORE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429207" y="7858354"/>
            <a:ext cx="81153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measure of </a:t>
            </a:r>
            <a:r>
              <a:rPr lang="en-US" sz="16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naturalness</a:t>
            </a: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Listeners rate the audio on a 1–5 scale.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429207" y="8305495"/>
            <a:ext cx="793242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sentence is presented blind for both systems with the order randomised.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620402" y="7086600"/>
            <a:ext cx="829361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WER</a:t>
            </a:r>
            <a:endParaRPr lang="en-US" sz="3600" dirty="0"/>
          </a:p>
        </p:txBody>
      </p:sp>
      <p:sp>
        <p:nvSpPr>
          <p:cNvPr id="39" name="Text 35"/>
          <p:cNvSpPr txBox="1"/>
          <p:nvPr/>
        </p:nvSpPr>
        <p:spPr>
          <a:xfrm>
            <a:off x="10614355" y="7372807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ERROR RATE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9620402" y="7858354"/>
            <a:ext cx="7239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measure of </a:t>
            </a:r>
            <a:r>
              <a:rPr lang="en-US" sz="1600" b="1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intelligibility</a:t>
            </a:r>
            <a:r>
              <a:rPr lang="en-US" sz="1600" dirty="0">
                <a:solidFill>
                  <a:srgbClr val="0E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listener transcribes what is heard; output is compared with the original text.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9620402" y="8620049"/>
            <a:ext cx="762426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3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is better. Substitutions, deletions and insertions are all counted.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2573000" y="3047695"/>
            <a:ext cx="4572000" cy="5333695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5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761695"/>
            <a:ext cx="761695" cy="38405"/>
          </a:xfrm>
          <a:prstGeom prst="rect">
            <a:avLst/>
          </a:prstGeom>
        </p:spPr>
      </p:pic>
      <p:pic>
        <p:nvPicPr>
          <p:cNvPr id="6" name="Image 1" descr="gen-dedup-6f7d439f1708d6b2c78fb4dcf548d03b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2954305" y="3715207"/>
            <a:ext cx="571500" cy="283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1F5A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EVALUATION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292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75" dirty="0">
                <a:solidFill>
                  <a:srgbClr val="0B2A4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Experimental results</a:t>
            </a:r>
            <a:endParaRPr lang="en-US" sz="51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286000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3A4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proposed system beats the baseline on both metrics.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573500" y="9715500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6A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1000" dirty="0"/>
          </a:p>
        </p:txBody>
      </p:sp>
      <p:pic>
        <p:nvPicPr>
          <p:cNvPr id="11" name="Image 2" descr="gen-dedup-79fdbdde133079048f8fa24240b8cf99.png"/>
          <p:cNvPicPr>
            <a:picLocks noChangeAspect="1"/>
          </p:cNvPicPr>
          <p:nvPr/>
        </p:nvPicPr>
        <p:blipFill>
          <a:blip r:embed="rId5"/>
          <a:srcRect t="-8333" b="-8333"/>
          <a:stretch/>
        </p:blipFill>
        <p:spPr>
          <a:xfrm>
            <a:off x="1143000" y="3212477"/>
            <a:ext cx="4572000" cy="4572000"/>
          </a:xfrm>
          <a:prstGeom prst="rect">
            <a:avLst/>
          </a:prstGeom>
        </p:spPr>
      </p:pic>
      <p:pic>
        <p:nvPicPr>
          <p:cNvPr id="12" name="Image 3" descr="gen-dedup-0514b4532bbf023881c5d201ea8db2fe.png"/>
          <p:cNvPicPr>
            <a:picLocks noChangeAspect="1"/>
          </p:cNvPicPr>
          <p:nvPr/>
        </p:nvPicPr>
        <p:blipFill>
          <a:blip r:embed="rId6"/>
          <a:srcRect t="-8333" b="-8333"/>
          <a:stretch/>
        </p:blipFill>
        <p:spPr>
          <a:xfrm>
            <a:off x="6858000" y="3047695"/>
            <a:ext cx="5333695" cy="53336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954305" y="33723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INDICATORS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12954305" y="5210251"/>
            <a:ext cx="3810305" cy="9144"/>
          </a:xfrm>
          <a:prstGeom prst="rect">
            <a:avLst/>
          </a:prstGeom>
          <a:solidFill>
            <a:srgbClr val="3A5778"/>
          </a:solidFill>
          <a:ln w="12700">
            <a:solidFill>
              <a:srgbClr val="3A57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5" name="Text 9"/>
          <p:cNvSpPr txBox="1"/>
          <p:nvPr/>
        </p:nvSpPr>
        <p:spPr>
          <a:xfrm>
            <a:off x="12954305" y="4172407"/>
            <a:ext cx="3810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97.2</a:t>
            </a:r>
            <a:r>
              <a:rPr lang="en-US" sz="24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%</a:t>
            </a:r>
            <a:endParaRPr lang="en-US" sz="4500" dirty="0"/>
          </a:p>
        </p:txBody>
      </p:sp>
      <p:sp>
        <p:nvSpPr>
          <p:cNvPr id="16" name="Text 10"/>
          <p:cNvSpPr txBox="1"/>
          <p:nvPr/>
        </p:nvSpPr>
        <p:spPr>
          <a:xfrm>
            <a:off x="12954305" y="483900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text-normalisation accuracy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12954305" y="6429146"/>
            <a:ext cx="3810305" cy="9144"/>
          </a:xfrm>
          <a:prstGeom prst="rect">
            <a:avLst/>
          </a:prstGeom>
          <a:solidFill>
            <a:srgbClr val="3A5778"/>
          </a:solidFill>
          <a:ln w="12700">
            <a:solidFill>
              <a:srgbClr val="3A57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2"/>
          <p:cNvSpPr txBox="1"/>
          <p:nvPr/>
        </p:nvSpPr>
        <p:spPr>
          <a:xfrm>
            <a:off x="12954305" y="5391302"/>
            <a:ext cx="3810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100</a:t>
            </a:r>
            <a:r>
              <a:rPr lang="en-US" sz="24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%</a:t>
            </a:r>
            <a:endParaRPr lang="en-US" sz="4500" dirty="0"/>
          </a:p>
        </p:txBody>
      </p:sp>
      <p:sp>
        <p:nvSpPr>
          <p:cNvPr id="19" name="Text 13"/>
          <p:cNvSpPr txBox="1"/>
          <p:nvPr/>
        </p:nvSpPr>
        <p:spPr>
          <a:xfrm>
            <a:off x="12954305" y="6057900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on date / time conversion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2954305" y="6610198"/>
            <a:ext cx="3810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156/156</a:t>
            </a:r>
            <a:endParaRPr lang="en-US" sz="4500" dirty="0"/>
          </a:p>
        </p:txBody>
      </p:sp>
      <p:sp>
        <p:nvSpPr>
          <p:cNvPr id="21" name="Text 15"/>
          <p:cNvSpPr txBox="1"/>
          <p:nvPr/>
        </p:nvSpPr>
        <p:spPr>
          <a:xfrm>
            <a:off x="12954305" y="727679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tests passing (61 phenomena)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8762695"/>
            <a:ext cx="1600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A76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Source: thesis, §5 — experimental report on 50 phonetically balanced sentences evaluated by 5 native speakers.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9FB4C918-1D14-B4F8-223C-94CA91508DAB}"/>
              </a:ext>
            </a:extLst>
          </p:cNvPr>
          <p:cNvSpPr/>
          <p:nvPr/>
        </p:nvSpPr>
        <p:spPr>
          <a:xfrm>
            <a:off x="1" y="0"/>
            <a:ext cx="18288000" cy="10287000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5F5193A-E0CC-103D-120A-C14031BB0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3613" y="3259823"/>
            <a:ext cx="4478625" cy="447862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108BF85-5834-9D22-0F28-CA0EABC858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95763" y="3259824"/>
            <a:ext cx="4478624" cy="4478624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5609E97-C918-E3AD-43CD-1C9DBFE92020}"/>
              </a:ext>
            </a:extLst>
          </p:cNvPr>
          <p:cNvSpPr txBox="1"/>
          <p:nvPr/>
        </p:nvSpPr>
        <p:spPr>
          <a:xfrm>
            <a:off x="507546" y="1828028"/>
            <a:ext cx="7690758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Demo with Azure</a:t>
            </a:r>
            <a:endParaRPr lang="en-US" sz="5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654DDFD-8D15-6B72-52AF-06D2E32EA852}"/>
              </a:ext>
            </a:extLst>
          </p:cNvPr>
          <p:cNvSpPr txBox="1"/>
          <p:nvPr/>
        </p:nvSpPr>
        <p:spPr>
          <a:xfrm>
            <a:off x="11346996" y="1828028"/>
            <a:ext cx="5176158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Demo with Native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10963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600244" cy="11037608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0" y="9430207"/>
            <a:ext cx="18288000" cy="857707"/>
          </a:xfrm>
          <a:prstGeom prst="rect">
            <a:avLst/>
          </a:prstGeom>
          <a:solidFill>
            <a:srgbClr val="0A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pic>
        <p:nvPicPr>
          <p:cNvPr id="5" name="Image 0" descr="gen-dedup-cfc304a6ff6b7471c886aeceb308770f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1143000" y="1143000"/>
            <a:ext cx="761695" cy="38405"/>
          </a:xfrm>
          <a:prstGeom prst="rect">
            <a:avLst/>
          </a:prstGeom>
        </p:spPr>
      </p:pic>
      <p:pic>
        <p:nvPicPr>
          <p:cNvPr id="6" name="Image 1" descr="gen-dedup-30c1d4335c27be9f6c95ecf4b85c462e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048402"/>
            <a:ext cx="16002000" cy="9144"/>
          </a:xfrm>
          <a:prstGeom prst="rect">
            <a:avLst/>
          </a:prstGeom>
        </p:spPr>
      </p:pic>
      <p:pic>
        <p:nvPicPr>
          <p:cNvPr id="7" name="Image 2" descr="gen-dedup-c90fb4301b4eb1972d25d2bc30c29a7a.png"/>
          <p:cNvPicPr>
            <a:picLocks noChangeAspect="1"/>
          </p:cNvPicPr>
          <p:nvPr/>
        </p:nvPicPr>
        <p:blipFill>
          <a:blip r:embed="rId5"/>
          <a:srcRect t="-2078" b="-2078"/>
          <a:stretch/>
        </p:blipFill>
        <p:spPr>
          <a:xfrm>
            <a:off x="9334195" y="5429707"/>
            <a:ext cx="9144" cy="36191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333195"/>
            <a:ext cx="1428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CONCLUSION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1809598"/>
            <a:ext cx="160020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Conclusion and outlook</a:t>
            </a:r>
            <a:endParaRPr lang="en-US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16573500" y="895380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5A7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16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3143707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i="1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 “Rule-based TTS is a </a:t>
            </a:r>
            <a:r>
              <a:rPr lang="en-US" sz="2500" b="1" i="1" dirty="0">
                <a:solidFill>
                  <a:srgbClr val="C9A22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functional, transparent and extensible baseline</a:t>
            </a:r>
            <a:r>
              <a:rPr lang="en-US" sz="2500" i="1" dirty="0">
                <a:solidFill>
                  <a:srgbClr val="FFFFFF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 for Azerbaijani — and a labelling tool for the neural systems that will follow.” 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5429707"/>
            <a:ext cx="7810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5905195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openly published, documented TTS system for North Azerbaijani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6448349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 3.2 vs 2.8 (+14 %), WER 12.4 % vs 18.7 % (−6.3 pp)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6991502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156-case unit-test suite covering 61 phonological phenomena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7534656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JSON-based rule base that can be edited by a linguist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8076895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normalisation reaching 97.2 % overall accuracy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715500" y="5429707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25" dirty="0">
                <a:solidFill>
                  <a:srgbClr val="C9A2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715500" y="5905195"/>
            <a:ext cx="7429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loanword phonology coverage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715500" y="6448349"/>
            <a:ext cx="7429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architecture: rule-based front-end + neural vocoder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715500" y="6991502"/>
            <a:ext cx="7429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 open corpus auto-labelled by the rule base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715500" y="7534656"/>
            <a:ext cx="7429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to the South Azerbaijani dialect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715500" y="8076895"/>
            <a:ext cx="74295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227"/>
                </a:solidFill>
                <a:latin typeface="var(--serif)" pitchFamily="34" charset="0"/>
                <a:ea typeface="var(--serif)" pitchFamily="34" charset="-122"/>
                <a:cs typeface="var(--serif)" pitchFamily="34" charset="-120"/>
              </a:rPr>
              <a:t>→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deployments in e-government and accessibility tools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9658807"/>
            <a:ext cx="8572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75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Thank you for your attention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10477195" y="9753905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00" kern="0" spc="75" dirty="0">
                <a:solidFill>
                  <a:srgbClr val="9FB4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Bashirov Ulvi Samir · UNEC Business School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1926</Words>
  <Application>Microsoft Macintosh PowerPoint</Application>
  <PresentationFormat>Custom</PresentationFormat>
  <Paragraphs>386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Inter</vt:lpstr>
      <vt:lpstr>JetBrains Mono</vt:lpstr>
      <vt:lpstr>Source Serif 4</vt:lpstr>
      <vt:lpstr>var(--mono)</vt:lpstr>
      <vt:lpstr>var(--serif)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Ulvi S. Basirov</cp:lastModifiedBy>
  <cp:revision>3</cp:revision>
  <dcterms:created xsi:type="dcterms:W3CDTF">2026-06-15T08:38:04Z</dcterms:created>
  <dcterms:modified xsi:type="dcterms:W3CDTF">2026-06-25T06:23:00Z</dcterms:modified>
</cp:coreProperties>
</file>